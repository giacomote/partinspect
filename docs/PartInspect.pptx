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63" r:id="rId4"/>
    <p:sldId id="261" r:id="rId5"/>
    <p:sldId id="260" r:id="rId6"/>
    <p:sldId id="262" r:id="rId7"/>
    <p:sldId id="259" r:id="rId8"/>
    <p:sldId id="258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E6B4"/>
    <a:srgbClr val="B5DE9E"/>
    <a:srgbClr val="97D077"/>
    <a:srgbClr val="197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9A9C4D-B7B4-BE86-619E-1BAF99DAFFC4}" v="354" dt="2026-07-11T17:15:58.1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83527" autoAdjust="0"/>
  </p:normalViewPr>
  <p:slideViewPr>
    <p:cSldViewPr snapToGrid="0">
      <p:cViewPr varScale="1">
        <p:scale>
          <a:sx n="105" d="100"/>
          <a:sy n="105" d="100"/>
        </p:scale>
        <p:origin x="64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57D65A-7476-4DC8-A720-DB0FE5A941CD}" type="datetimeFigureOut">
              <a:rPr lang="it-IT" smtClean="0"/>
              <a:t>13/07/2026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F46757-F6AF-4C10-AC72-994401E30A9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1821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In automation, this kind of solenoid actuator is often called «</a:t>
            </a:r>
            <a:r>
              <a:rPr lang="en-US" b="1" noProof="0" dirty="0"/>
              <a:t>Reject Solenoid</a:t>
            </a:r>
            <a:r>
              <a:rPr lang="en-US" b="0" noProof="0" dirty="0"/>
              <a:t>».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46757-F6AF-4C10-AC72-994401E30A9D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56133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Morphological opening cleans the image by deleting isolated pixels.</a:t>
            </a:r>
          </a:p>
          <a:p>
            <a:r>
              <a:rPr lang="en-US" noProof="0" dirty="0"/>
              <a:t>It is useful especially after a thresholding operation.</a:t>
            </a:r>
          </a:p>
          <a:p>
            <a:endParaRPr lang="en-US" noProof="0" dirty="0"/>
          </a:p>
          <a:p>
            <a:r>
              <a:rPr lang="en-US" noProof="0" dirty="0"/>
              <a:t>The polygon approximation is based on the Douglas-</a:t>
            </a:r>
            <a:r>
              <a:rPr lang="en-US" noProof="0" dirty="0" err="1"/>
              <a:t>Peucker</a:t>
            </a:r>
            <a:r>
              <a:rPr lang="en-US" noProof="0" dirty="0"/>
              <a:t> algorithm, and finds the polygon which contains all the object pixels.</a:t>
            </a:r>
            <a:endParaRPr lang="en-US" u="sng" noProof="0" dirty="0"/>
          </a:p>
          <a:p>
            <a:r>
              <a:rPr lang="en-US" u="none" noProof="0" dirty="0"/>
              <a:t>It reduces the image to just the vertices of the borders, so it keeps the shape without considering all the image pixels (reducing the complexity).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46757-F6AF-4C10-AC72-994401E30A9D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7934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All nodes (a part from the dummy camera node) works at the same frequency: 20 Hz</a:t>
            </a:r>
          </a:p>
          <a:p>
            <a:r>
              <a:rPr lang="en-US" noProof="0" dirty="0"/>
              <a:t>However, this is not mandatory: controller and pusher can also work at a different frequency.</a:t>
            </a:r>
          </a:p>
          <a:p>
            <a:endParaRPr lang="en-US" noProof="0" dirty="0"/>
          </a:p>
          <a:p>
            <a:r>
              <a:rPr lang="en-US" noProof="0" dirty="0"/>
              <a:t>Dummy camera node generates an image every 2 seconds, so it works at the frequency of 0.5 Hz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F46757-F6AF-4C10-AC72-994401E30A9D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4172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083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41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073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936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038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613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633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7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587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519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3211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2755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/>
          </a:bodyPr>
          <a:lstStyle/>
          <a:p>
            <a:r>
              <a:rPr lang="en-US" sz="4400" i="1" noProof="0" dirty="0" err="1"/>
              <a:t>PartInspect</a:t>
            </a:r>
            <a:endParaRPr lang="en-US" sz="4400" i="1" noProof="0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sz="1200" noProof="0" dirty="0">
                <a:ea typeface="+mn-lt"/>
                <a:cs typeface="+mn-lt"/>
              </a:rPr>
              <a:t>A simulated </a:t>
            </a:r>
            <a:r>
              <a:rPr lang="en-US" sz="1200" noProof="0" dirty="0">
                <a:solidFill>
                  <a:schemeClr val="accent1">
                    <a:lumMod val="49000"/>
                  </a:schemeClr>
                </a:solidFill>
              </a:rPr>
              <a:t>ROS2</a:t>
            </a:r>
            <a:r>
              <a:rPr lang="en-US" sz="1200" noProof="0" dirty="0">
                <a:ea typeface="+mn-lt"/>
                <a:cs typeface="+mn-lt"/>
              </a:rPr>
              <a:t> and </a:t>
            </a:r>
            <a:r>
              <a:rPr lang="en-US" sz="1200" noProof="0" dirty="0">
                <a:solidFill>
                  <a:schemeClr val="accent1">
                    <a:lumMod val="49000"/>
                  </a:schemeClr>
                </a:solidFill>
                <a:ea typeface="+mn-lt"/>
                <a:cs typeface="+mn-lt"/>
              </a:rPr>
              <a:t>Gazebo</a:t>
            </a:r>
            <a:r>
              <a:rPr lang="en-US" sz="1200" noProof="0" dirty="0">
                <a:ea typeface="+mn-lt"/>
                <a:cs typeface="+mn-lt"/>
              </a:rPr>
              <a:t> environment for </a:t>
            </a:r>
            <a:r>
              <a:rPr lang="en-US" sz="1200" noProof="0" dirty="0">
                <a:solidFill>
                  <a:schemeClr val="accent1">
                    <a:lumMod val="49000"/>
                  </a:schemeClr>
                </a:solidFill>
                <a:ea typeface="+mn-lt"/>
                <a:cs typeface="+mn-lt"/>
              </a:rPr>
              <a:t>automated quality inspection in manufacturing</a:t>
            </a:r>
            <a:r>
              <a:rPr lang="en-US" sz="1200" noProof="0" dirty="0">
                <a:ea typeface="+mn-lt"/>
                <a:cs typeface="+mn-lt"/>
              </a:rPr>
              <a:t>.</a:t>
            </a:r>
            <a:endParaRPr lang="en-US" sz="1200" i="1" noProof="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magine 6" descr="What is Manufacturing? - Newsroom">
            <a:extLst>
              <a:ext uri="{FF2B5EF4-FFF2-40B4-BE49-F238E27FC236}">
                <a16:creationId xmlns:a16="http://schemas.microsoft.com/office/drawing/2014/main" id="{523EE696-2895-4C35-7461-EF94F1475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723" y="1474687"/>
            <a:ext cx="7086286" cy="3986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583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B474B3C-D1A0-AE4E-0156-39AF4ED5C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821" y="1371600"/>
            <a:ext cx="6034187" cy="719909"/>
          </a:xfrm>
        </p:spPr>
        <p:txBody>
          <a:bodyPr>
            <a:normAutofit/>
          </a:bodyPr>
          <a:lstStyle/>
          <a:p>
            <a:r>
              <a:rPr lang="en-US" sz="3800" i="1" noProof="0" dirty="0"/>
              <a:t>The ACTORS</a:t>
            </a:r>
          </a:p>
        </p:txBody>
      </p:sp>
      <p:pic>
        <p:nvPicPr>
          <p:cNvPr id="5" name="Picture 4" descr="Pacchetti su nastro trasportatore">
            <a:extLst>
              <a:ext uri="{FF2B5EF4-FFF2-40B4-BE49-F238E27FC236}">
                <a16:creationId xmlns:a16="http://schemas.microsoft.com/office/drawing/2014/main" id="{152E6A0D-6B07-F778-13C8-3BD6745453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012" r="42775" b="-3"/>
          <a:stretch>
            <a:fillRect/>
          </a:stretch>
        </p:blipFill>
        <p:spPr>
          <a:xfrm>
            <a:off x="20" y="10"/>
            <a:ext cx="4857871" cy="685799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91422F5-4221-4812-AFD9-5479C6D60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80905" y="1031005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E2F7C2-FA8A-6EDE-B79C-5858B27DD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6821" y="2633236"/>
            <a:ext cx="6034187" cy="224954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noProof="0" dirty="0"/>
              <a:t>A </a:t>
            </a:r>
            <a:r>
              <a:rPr lang="en-US" sz="1800" b="1" noProof="0" dirty="0"/>
              <a:t>CONVEYOR BELT</a:t>
            </a:r>
          </a:p>
          <a:p>
            <a:r>
              <a:rPr lang="en-US" sz="1800" noProof="0" dirty="0"/>
              <a:t>A </a:t>
            </a:r>
            <a:r>
              <a:rPr lang="en-US" sz="1800" b="1" noProof="0" dirty="0"/>
              <a:t>VISION SYSTEM</a:t>
            </a:r>
            <a:r>
              <a:rPr lang="en-US" sz="1800" noProof="0" dirty="0"/>
              <a:t> (made of 2 cameras alongside the conveyor belt)</a:t>
            </a:r>
          </a:p>
          <a:p>
            <a:r>
              <a:rPr lang="en-US" sz="1800" noProof="0" dirty="0"/>
              <a:t>A </a:t>
            </a:r>
            <a:r>
              <a:rPr lang="en-US" sz="1800" b="1" noProof="0" dirty="0"/>
              <a:t>SOLENOID ACTUATOR</a:t>
            </a:r>
            <a:r>
              <a:rPr lang="en-US" sz="1800" dirty="0"/>
              <a:t> (which can push objects away)</a:t>
            </a:r>
            <a:endParaRPr lang="en-US" sz="1800" b="1" noProof="0" dirty="0"/>
          </a:p>
          <a:p>
            <a:r>
              <a:rPr lang="en-US" sz="1800" b="1" noProof="0" dirty="0"/>
              <a:t>OBJECTS</a:t>
            </a:r>
            <a:r>
              <a:rPr lang="en-US" sz="1800" noProof="0" dirty="0"/>
              <a:t> (</a:t>
            </a:r>
            <a:r>
              <a:rPr lang="en-US" sz="1800" noProof="0" dirty="0">
                <a:solidFill>
                  <a:schemeClr val="accent1">
                    <a:lumMod val="76000"/>
                  </a:schemeClr>
                </a:solidFill>
              </a:rPr>
              <a:t>cubes </a:t>
            </a:r>
            <a:r>
              <a:rPr lang="en-US" sz="1800" noProof="0" dirty="0"/>
              <a:t>and </a:t>
            </a:r>
            <a:r>
              <a:rPr lang="en-US" sz="1800" noProof="0" dirty="0">
                <a:solidFill>
                  <a:schemeClr val="accent5">
                    <a:lumMod val="49000"/>
                  </a:schemeClr>
                </a:solidFill>
              </a:rPr>
              <a:t>cones</a:t>
            </a:r>
            <a:r>
              <a:rPr lang="en-US" sz="1800" noProof="0" dirty="0"/>
              <a:t>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58B6081-A3C7-9931-0257-9CCC52AA2DE5}"/>
              </a:ext>
            </a:extLst>
          </p:cNvPr>
          <p:cNvSpPr txBox="1"/>
          <p:nvPr/>
        </p:nvSpPr>
        <p:spPr>
          <a:xfrm>
            <a:off x="5426925" y="5617028"/>
            <a:ext cx="251361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noProof="0" dirty="0">
                <a:solidFill>
                  <a:srgbClr val="0F55B3"/>
                </a:solidFill>
              </a:rPr>
              <a:t>Good parts (preserved)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B1BEBA6-7BF5-5C3D-5E78-645257FAC155}"/>
              </a:ext>
            </a:extLst>
          </p:cNvPr>
          <p:cNvSpPr txBox="1"/>
          <p:nvPr/>
        </p:nvSpPr>
        <p:spPr>
          <a:xfrm>
            <a:off x="8252603" y="5610972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noProof="0" dirty="0">
                <a:solidFill>
                  <a:schemeClr val="accent5">
                    <a:lumMod val="49000"/>
                  </a:schemeClr>
                </a:solidFill>
              </a:rPr>
              <a:t>Defective parts (rejected)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CADFFAC9-E4FD-D97F-7EF8-4EE20305767E}"/>
              </a:ext>
            </a:extLst>
          </p:cNvPr>
          <p:cNvCxnSpPr>
            <a:cxnSpLocks/>
          </p:cNvCxnSpPr>
          <p:nvPr/>
        </p:nvCxnSpPr>
        <p:spPr>
          <a:xfrm>
            <a:off x="8483936" y="4820281"/>
            <a:ext cx="781177" cy="691584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BEDBAB7C-A213-FA3A-88E7-5CC8A18310B3}"/>
              </a:ext>
            </a:extLst>
          </p:cNvPr>
          <p:cNvCxnSpPr>
            <a:cxnSpLocks/>
          </p:cNvCxnSpPr>
          <p:nvPr/>
        </p:nvCxnSpPr>
        <p:spPr>
          <a:xfrm flipH="1">
            <a:off x="6758082" y="4839194"/>
            <a:ext cx="339115" cy="647206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618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A9D583-1ACB-E66C-E958-077140619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1"/>
            <a:ext cx="4567762" cy="699424"/>
          </a:xfrm>
        </p:spPr>
        <p:txBody>
          <a:bodyPr>
            <a:normAutofit/>
          </a:bodyPr>
          <a:lstStyle/>
          <a:p>
            <a:r>
              <a:rPr lang="en-US" sz="3800" i="1" noProof="0" dirty="0"/>
              <a:t>SYSTEM OVERVIEW</a:t>
            </a:r>
          </a:p>
        </p:txBody>
      </p:sp>
      <p:pic>
        <p:nvPicPr>
          <p:cNvPr id="5" name="Elemento grafico 4">
            <a:extLst>
              <a:ext uri="{FF2B5EF4-FFF2-40B4-BE49-F238E27FC236}">
                <a16:creationId xmlns:a16="http://schemas.microsoft.com/office/drawing/2014/main" id="{B3F50D04-3994-A5F8-CF21-A7DCF6CAB3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4249" y="2738461"/>
            <a:ext cx="6547951" cy="2842815"/>
          </a:xfrm>
          <a:prstGeom prst="rect">
            <a:avLst/>
          </a:prstGeom>
        </p:spPr>
      </p:pic>
      <p:grpSp>
        <p:nvGrpSpPr>
          <p:cNvPr id="16" name="Gruppo 15">
            <a:extLst>
              <a:ext uri="{FF2B5EF4-FFF2-40B4-BE49-F238E27FC236}">
                <a16:creationId xmlns:a16="http://schemas.microsoft.com/office/drawing/2014/main" id="{CC6DA4DB-E6EC-C696-C017-9FBB5091D554}"/>
              </a:ext>
            </a:extLst>
          </p:cNvPr>
          <p:cNvGrpSpPr/>
          <p:nvPr/>
        </p:nvGrpSpPr>
        <p:grpSpPr>
          <a:xfrm>
            <a:off x="8387046" y="2933484"/>
            <a:ext cx="3010705" cy="2683638"/>
            <a:chOff x="7672482" y="1750077"/>
            <a:chExt cx="3010705" cy="2683638"/>
          </a:xfrm>
        </p:grpSpPr>
        <p:grpSp>
          <p:nvGrpSpPr>
            <p:cNvPr id="14" name="Gruppo 13">
              <a:extLst>
                <a:ext uri="{FF2B5EF4-FFF2-40B4-BE49-F238E27FC236}">
                  <a16:creationId xmlns:a16="http://schemas.microsoft.com/office/drawing/2014/main" id="{3194C649-B8AD-EB05-35AB-E22C0D1CB460}"/>
                </a:ext>
              </a:extLst>
            </p:cNvPr>
            <p:cNvGrpSpPr/>
            <p:nvPr/>
          </p:nvGrpSpPr>
          <p:grpSpPr>
            <a:xfrm>
              <a:off x="7672482" y="3207330"/>
              <a:ext cx="3010705" cy="1226385"/>
              <a:chOff x="7672482" y="3745287"/>
              <a:chExt cx="3010705" cy="1226385"/>
            </a:xfrm>
          </p:grpSpPr>
          <p:sp>
            <p:nvSpPr>
              <p:cNvPr id="13" name="Rettangolo 12">
                <a:extLst>
                  <a:ext uri="{FF2B5EF4-FFF2-40B4-BE49-F238E27FC236}">
                    <a16:creationId xmlns:a16="http://schemas.microsoft.com/office/drawing/2014/main" id="{7AC4CCDA-4FCC-2243-D03B-3C9EA2B72291}"/>
                  </a:ext>
                </a:extLst>
              </p:cNvPr>
              <p:cNvSpPr/>
              <p:nvPr/>
            </p:nvSpPr>
            <p:spPr>
              <a:xfrm>
                <a:off x="7672482" y="3745287"/>
                <a:ext cx="3010705" cy="122638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pic>
            <p:nvPicPr>
              <p:cNvPr id="9" name="Elemento grafico 8">
                <a:extLst>
                  <a:ext uri="{FF2B5EF4-FFF2-40B4-BE49-F238E27FC236}">
                    <a16:creationId xmlns:a16="http://schemas.microsoft.com/office/drawing/2014/main" id="{49F10AFB-180C-07B1-23AF-AAC95BECE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b="56261"/>
              <a:stretch>
                <a:fillRect/>
              </a:stretch>
            </p:blipFill>
            <p:spPr>
              <a:xfrm>
                <a:off x="8167050" y="3979202"/>
                <a:ext cx="2031625" cy="760799"/>
              </a:xfrm>
              <a:prstGeom prst="rect">
                <a:avLst/>
              </a:prstGeom>
            </p:spPr>
          </p:pic>
        </p:grpSp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BB57B401-558F-F01E-DB90-AFC6E5F4A722}"/>
                </a:ext>
              </a:extLst>
            </p:cNvPr>
            <p:cNvGrpSpPr/>
            <p:nvPr/>
          </p:nvGrpSpPr>
          <p:grpSpPr>
            <a:xfrm>
              <a:off x="7672482" y="1750077"/>
              <a:ext cx="3010705" cy="1226385"/>
              <a:chOff x="7672482" y="1750077"/>
              <a:chExt cx="3010705" cy="1226385"/>
            </a:xfrm>
          </p:grpSpPr>
          <p:sp>
            <p:nvSpPr>
              <p:cNvPr id="12" name="Rettangolo 11">
                <a:extLst>
                  <a:ext uri="{FF2B5EF4-FFF2-40B4-BE49-F238E27FC236}">
                    <a16:creationId xmlns:a16="http://schemas.microsoft.com/office/drawing/2014/main" id="{0ACA5FB1-3B55-1EF0-E78D-3F470D19DED2}"/>
                  </a:ext>
                </a:extLst>
              </p:cNvPr>
              <p:cNvSpPr/>
              <p:nvPr/>
            </p:nvSpPr>
            <p:spPr>
              <a:xfrm>
                <a:off x="7672482" y="1750077"/>
                <a:ext cx="3010705" cy="1226385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pic>
            <p:nvPicPr>
              <p:cNvPr id="11" name="Elemento grafico 10">
                <a:extLst>
                  <a:ext uri="{FF2B5EF4-FFF2-40B4-BE49-F238E27FC236}">
                    <a16:creationId xmlns:a16="http://schemas.microsoft.com/office/drawing/2014/main" id="{92D311DD-DA1B-3FE4-BD49-AEF025E853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t="56040"/>
              <a:stretch>
                <a:fillRect/>
              </a:stretch>
            </p:blipFill>
            <p:spPr>
              <a:xfrm>
                <a:off x="8167050" y="1980945"/>
                <a:ext cx="2031625" cy="76464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891162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DB12C1-0CDA-832D-5DB5-7511E49CE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1"/>
            <a:ext cx="5548774" cy="729702"/>
          </a:xfrm>
        </p:spPr>
        <p:txBody>
          <a:bodyPr>
            <a:normAutofit/>
          </a:bodyPr>
          <a:lstStyle/>
          <a:p>
            <a:r>
              <a:rPr lang="en-US" sz="3800" i="1" noProof="0" dirty="0"/>
              <a:t>VISION (&amp; CHECK) Node</a:t>
            </a:r>
          </a:p>
        </p:txBody>
      </p:sp>
      <p:sp>
        <p:nvSpPr>
          <p:cNvPr id="46" name="Rettangolo 45">
            <a:extLst>
              <a:ext uri="{FF2B5EF4-FFF2-40B4-BE49-F238E27FC236}">
                <a16:creationId xmlns:a16="http://schemas.microsoft.com/office/drawing/2014/main" id="{40A9514B-1DEB-63C6-EA4D-19B8A859DD34}"/>
              </a:ext>
            </a:extLst>
          </p:cNvPr>
          <p:cNvSpPr/>
          <p:nvPr/>
        </p:nvSpPr>
        <p:spPr>
          <a:xfrm>
            <a:off x="7866269" y="476161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/camera1/</a:t>
            </a:r>
            <a:r>
              <a:rPr lang="it-IT" dirty="0" err="1">
                <a:solidFill>
                  <a:schemeClr val="tx1"/>
                </a:solidFill>
              </a:rPr>
              <a:t>image_raw</a:t>
            </a:r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CB338DD9-90D7-E3CF-B148-680BB2A369DA}"/>
              </a:ext>
            </a:extLst>
          </p:cNvPr>
          <p:cNvSpPr/>
          <p:nvPr/>
        </p:nvSpPr>
        <p:spPr>
          <a:xfrm>
            <a:off x="7866269" y="1044592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/vision/</a:t>
            </a:r>
            <a:r>
              <a:rPr lang="it-IT" dirty="0" err="1">
                <a:solidFill>
                  <a:schemeClr val="tx1"/>
                </a:solidFill>
              </a:rPr>
              <a:t>detection_result</a:t>
            </a:r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48" name="Rettangolo 47">
            <a:extLst>
              <a:ext uri="{FF2B5EF4-FFF2-40B4-BE49-F238E27FC236}">
                <a16:creationId xmlns:a16="http://schemas.microsoft.com/office/drawing/2014/main" id="{977A51BD-2CF0-3517-B83E-59063E621EA9}"/>
              </a:ext>
            </a:extLst>
          </p:cNvPr>
          <p:cNvSpPr/>
          <p:nvPr/>
        </p:nvSpPr>
        <p:spPr>
          <a:xfrm>
            <a:off x="7866269" y="1613023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/camera2/</a:t>
            </a:r>
            <a:r>
              <a:rPr lang="it-IT" dirty="0" err="1">
                <a:solidFill>
                  <a:schemeClr val="tx1"/>
                </a:solidFill>
              </a:rPr>
              <a:t>image_raw</a:t>
            </a:r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49" name="Freccia in giù 48">
            <a:extLst>
              <a:ext uri="{FF2B5EF4-FFF2-40B4-BE49-F238E27FC236}">
                <a16:creationId xmlns:a16="http://schemas.microsoft.com/office/drawing/2014/main" id="{5A047AAB-830E-DB6B-CB84-31477CFA0FDF}"/>
              </a:ext>
            </a:extLst>
          </p:cNvPr>
          <p:cNvSpPr/>
          <p:nvPr/>
        </p:nvSpPr>
        <p:spPr>
          <a:xfrm>
            <a:off x="7531014" y="590897"/>
            <a:ext cx="238454" cy="236169"/>
          </a:xfrm>
          <a:prstGeom prst="down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0" name="Freccia in giù 49">
            <a:extLst>
              <a:ext uri="{FF2B5EF4-FFF2-40B4-BE49-F238E27FC236}">
                <a16:creationId xmlns:a16="http://schemas.microsoft.com/office/drawing/2014/main" id="{E0AC0EC0-9FEB-0F62-A426-2678C6CE53A4}"/>
              </a:ext>
            </a:extLst>
          </p:cNvPr>
          <p:cNvSpPr/>
          <p:nvPr/>
        </p:nvSpPr>
        <p:spPr>
          <a:xfrm rot="10800000">
            <a:off x="7529761" y="1153272"/>
            <a:ext cx="238454" cy="236169"/>
          </a:xfrm>
          <a:prstGeom prst="downArrow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1" name="Freccia in giù 50">
            <a:extLst>
              <a:ext uri="{FF2B5EF4-FFF2-40B4-BE49-F238E27FC236}">
                <a16:creationId xmlns:a16="http://schemas.microsoft.com/office/drawing/2014/main" id="{F51B03D0-6B04-C4FB-343E-CE9A546F0F3D}"/>
              </a:ext>
            </a:extLst>
          </p:cNvPr>
          <p:cNvSpPr/>
          <p:nvPr/>
        </p:nvSpPr>
        <p:spPr>
          <a:xfrm>
            <a:off x="7529761" y="1727760"/>
            <a:ext cx="238454" cy="236169"/>
          </a:xfrm>
          <a:prstGeom prst="down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52" name="Immagine 51" descr="3D Cube - Free shapes icons">
            <a:extLst>
              <a:ext uri="{FF2B5EF4-FFF2-40B4-BE49-F238E27FC236}">
                <a16:creationId xmlns:a16="http://schemas.microsoft.com/office/drawing/2014/main" id="{9824BA96-F72C-A06E-3FB4-8846D868A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041" y="1653850"/>
            <a:ext cx="181885" cy="181885"/>
          </a:xfrm>
          <a:prstGeom prst="rect">
            <a:avLst/>
          </a:prstGeom>
        </p:spPr>
      </p:pic>
      <p:sp>
        <p:nvSpPr>
          <p:cNvPr id="54" name="Rettangolo 53">
            <a:extLst>
              <a:ext uri="{FF2B5EF4-FFF2-40B4-BE49-F238E27FC236}">
                <a16:creationId xmlns:a16="http://schemas.microsoft.com/office/drawing/2014/main" id="{8F5437C6-D4B8-5F0A-4BE5-3A8FE6B96225}"/>
              </a:ext>
            </a:extLst>
          </p:cNvPr>
          <p:cNvSpPr/>
          <p:nvPr/>
        </p:nvSpPr>
        <p:spPr>
          <a:xfrm>
            <a:off x="7866269" y="2175398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/check/</a:t>
            </a:r>
            <a:r>
              <a:rPr lang="it-IT" dirty="0" err="1">
                <a:solidFill>
                  <a:schemeClr val="tx1"/>
                </a:solidFill>
              </a:rPr>
              <a:t>detection_result</a:t>
            </a:r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55" name="Freccia in giù 54">
            <a:extLst>
              <a:ext uri="{FF2B5EF4-FFF2-40B4-BE49-F238E27FC236}">
                <a16:creationId xmlns:a16="http://schemas.microsoft.com/office/drawing/2014/main" id="{3518056B-1D0F-19B2-969B-DF220A0E867D}"/>
              </a:ext>
            </a:extLst>
          </p:cNvPr>
          <p:cNvSpPr/>
          <p:nvPr/>
        </p:nvSpPr>
        <p:spPr>
          <a:xfrm rot="10800000">
            <a:off x="7529761" y="2290135"/>
            <a:ext cx="238454" cy="236169"/>
          </a:xfrm>
          <a:prstGeom prst="downArrow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56" name="Immagine 55" descr="3D Cube - Free shapes icons">
            <a:extLst>
              <a:ext uri="{FF2B5EF4-FFF2-40B4-BE49-F238E27FC236}">
                <a16:creationId xmlns:a16="http://schemas.microsoft.com/office/drawing/2014/main" id="{7DE8A3A2-418A-65C6-C26D-E1AB2D807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7041" y="526702"/>
            <a:ext cx="181885" cy="181885"/>
          </a:xfrm>
          <a:prstGeom prst="rect">
            <a:avLst/>
          </a:prstGeom>
        </p:spPr>
      </p:pic>
      <p:grpSp>
        <p:nvGrpSpPr>
          <p:cNvPr id="60" name="Gruppo 59">
            <a:extLst>
              <a:ext uri="{FF2B5EF4-FFF2-40B4-BE49-F238E27FC236}">
                <a16:creationId xmlns:a16="http://schemas.microsoft.com/office/drawing/2014/main" id="{59CE7DA5-85EE-3C4F-AF49-09F23EDE37D0}"/>
              </a:ext>
            </a:extLst>
          </p:cNvPr>
          <p:cNvGrpSpPr/>
          <p:nvPr/>
        </p:nvGrpSpPr>
        <p:grpSpPr>
          <a:xfrm>
            <a:off x="640080" y="4582903"/>
            <a:ext cx="10890928" cy="1840960"/>
            <a:chOff x="640080" y="4195337"/>
            <a:chExt cx="10890928" cy="1840960"/>
          </a:xfrm>
        </p:grpSpPr>
        <p:pic>
          <p:nvPicPr>
            <p:cNvPr id="12" name="Elemento grafico 11">
              <a:extLst>
                <a:ext uri="{FF2B5EF4-FFF2-40B4-BE49-F238E27FC236}">
                  <a16:creationId xmlns:a16="http://schemas.microsoft.com/office/drawing/2014/main" id="{5DBF9857-B1C5-6908-F7FD-27D2908F90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44" t="12801" r="1518" b="13019"/>
            <a:stretch>
              <a:fillRect/>
            </a:stretch>
          </p:blipFill>
          <p:spPr>
            <a:xfrm>
              <a:off x="791699" y="4195337"/>
              <a:ext cx="10608602" cy="816574"/>
            </a:xfrm>
            <a:prstGeom prst="rect">
              <a:avLst/>
            </a:prstGeom>
          </p:spPr>
        </p:pic>
        <p:sp>
          <p:nvSpPr>
            <p:cNvPr id="57" name="Segnaposto contenuto 2">
              <a:extLst>
                <a:ext uri="{FF2B5EF4-FFF2-40B4-BE49-F238E27FC236}">
                  <a16:creationId xmlns:a16="http://schemas.microsoft.com/office/drawing/2014/main" id="{B4BEB0DA-87A1-B832-A2FD-F760B6B6DF4E}"/>
                </a:ext>
              </a:extLst>
            </p:cNvPr>
            <p:cNvSpPr txBox="1">
              <a:spLocks/>
            </p:cNvSpPr>
            <p:nvPr/>
          </p:nvSpPr>
          <p:spPr>
            <a:xfrm>
              <a:off x="640080" y="5219723"/>
              <a:ext cx="10890928" cy="81657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87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93776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87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3152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87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51560" indent="-28575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87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98448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87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800" dirty="0"/>
                <a:t>The entire pipeline is applied to a specific </a:t>
              </a:r>
              <a:r>
                <a:rPr lang="en-US" sz="1800" b="1" dirty="0"/>
                <a:t>Region of Interest (ROI)</a:t>
              </a:r>
              <a:r>
                <a:rPr lang="en-US" sz="1800" dirty="0"/>
                <a:t>,</a:t>
              </a:r>
              <a:endParaRPr lang="en-US" sz="1800" b="1" dirty="0"/>
            </a:p>
            <a:p>
              <a:pPr marL="0" indent="0">
                <a:lnSpc>
                  <a:spcPct val="100000"/>
                </a:lnSpc>
                <a:spcBef>
                  <a:spcPts val="0"/>
                </a:spcBef>
                <a:buNone/>
              </a:pPr>
              <a:r>
                <a:rPr lang="en-US" sz="1800" dirty="0"/>
                <a:t>to ensure that the object is fully visible in the image</a:t>
              </a:r>
            </a:p>
          </p:txBody>
        </p:sp>
      </p:grpSp>
      <p:sp>
        <p:nvSpPr>
          <p:cNvPr id="62" name="Segnaposto contenuto 2">
            <a:extLst>
              <a:ext uri="{FF2B5EF4-FFF2-40B4-BE49-F238E27FC236}">
                <a16:creationId xmlns:a16="http://schemas.microsoft.com/office/drawing/2014/main" id="{1F501475-08D9-1D57-FAAF-4F1CA1347399}"/>
              </a:ext>
            </a:extLst>
          </p:cNvPr>
          <p:cNvSpPr txBox="1">
            <a:spLocks/>
          </p:cNvSpPr>
          <p:nvPr/>
        </p:nvSpPr>
        <p:spPr>
          <a:xfrm>
            <a:off x="640080" y="2754591"/>
            <a:ext cx="10890928" cy="15834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VISION</a:t>
            </a:r>
            <a:r>
              <a:rPr lang="en-US" dirty="0"/>
              <a:t> Node: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detects defective parts and notifies the pusher</a:t>
            </a:r>
          </a:p>
          <a:p>
            <a:r>
              <a:rPr lang="en-US" b="1" dirty="0"/>
              <a:t>CHECK</a:t>
            </a:r>
            <a:r>
              <a:rPr lang="en-US" dirty="0"/>
              <a:t> Node: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detects defective parts that were not pushed away and notifies the controller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Both nodes receive images from simulated Gazebo cameras</a:t>
            </a:r>
          </a:p>
        </p:txBody>
      </p:sp>
    </p:spTree>
    <p:extLst>
      <p:ext uri="{BB962C8B-B14F-4D97-AF65-F5344CB8AC3E}">
        <p14:creationId xmlns:p14="http://schemas.microsoft.com/office/powerpoint/2010/main" val="3673480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B420C3-112D-6E92-8D07-3A359FAB5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3568583" cy="735758"/>
          </a:xfrm>
        </p:spPr>
        <p:txBody>
          <a:bodyPr>
            <a:normAutofit/>
          </a:bodyPr>
          <a:lstStyle/>
          <a:p>
            <a:r>
              <a:rPr lang="en-US" sz="3800" i="1" noProof="0" dirty="0"/>
              <a:t>PUSHER Node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0ABC19-C5B4-0CC5-AD84-72B897845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54592"/>
            <a:ext cx="10890928" cy="3066455"/>
          </a:xfrm>
        </p:spPr>
        <p:txBody>
          <a:bodyPr>
            <a:normAutofit/>
          </a:bodyPr>
          <a:lstStyle/>
          <a:p>
            <a:r>
              <a:rPr lang="en-US" b="1" dirty="0"/>
              <a:t>TRACKS MOTION</a:t>
            </a:r>
            <a:r>
              <a:rPr lang="en-US" dirty="0"/>
              <a:t> of defective parts (once detected from the vision node)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Actuation time is automatically computed based on the conveyor belt speed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If belt speed changes between detection and actuation, the actuation time changes accordingly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Controls </a:t>
            </a:r>
            <a:r>
              <a:rPr lang="en-US" b="1" dirty="0"/>
              <a:t>EXTENSION and RETRACTION</a:t>
            </a:r>
            <a:r>
              <a:rPr lang="en-US" dirty="0"/>
              <a:t> of a simulated PID-controlled </a:t>
            </a:r>
            <a:r>
              <a:rPr lang="en-US" b="1" dirty="0"/>
              <a:t>SOLENOID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Retraction happens 500ms after the extension</a:t>
            </a:r>
          </a:p>
        </p:txBody>
      </p:sp>
      <p:sp>
        <p:nvSpPr>
          <p:cNvPr id="26" name="Rettangolo 25">
            <a:extLst>
              <a:ext uri="{FF2B5EF4-FFF2-40B4-BE49-F238E27FC236}">
                <a16:creationId xmlns:a16="http://schemas.microsoft.com/office/drawing/2014/main" id="{4811B8CE-3574-ECF9-849A-D0CFEBF06C2E}"/>
              </a:ext>
            </a:extLst>
          </p:cNvPr>
          <p:cNvSpPr/>
          <p:nvPr/>
        </p:nvSpPr>
        <p:spPr>
          <a:xfrm>
            <a:off x="7866269" y="476161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/vision/</a:t>
            </a:r>
            <a:r>
              <a:rPr lang="it-IT" dirty="0" err="1">
                <a:solidFill>
                  <a:schemeClr val="tx1"/>
                </a:solidFill>
              </a:rPr>
              <a:t>detection_result</a:t>
            </a:r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F57CF102-10E6-2403-5482-13EEA05D504E}"/>
              </a:ext>
            </a:extLst>
          </p:cNvPr>
          <p:cNvSpPr/>
          <p:nvPr/>
        </p:nvSpPr>
        <p:spPr>
          <a:xfrm>
            <a:off x="7866269" y="1044592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/config/</a:t>
            </a:r>
            <a:r>
              <a:rPr lang="en-US" dirty="0" err="1">
                <a:solidFill>
                  <a:schemeClr val="tx1"/>
                </a:solidFill>
              </a:rPr>
              <a:t>belt_speed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Rettangolo 27">
            <a:extLst>
              <a:ext uri="{FF2B5EF4-FFF2-40B4-BE49-F238E27FC236}">
                <a16:creationId xmlns:a16="http://schemas.microsoft.com/office/drawing/2014/main" id="{F8E70AC3-3DFC-18CA-1FEB-F585E13ECBC2}"/>
              </a:ext>
            </a:extLst>
          </p:cNvPr>
          <p:cNvSpPr/>
          <p:nvPr/>
        </p:nvSpPr>
        <p:spPr>
          <a:xfrm>
            <a:off x="7866269" y="1613023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/gazebo/pusher/</a:t>
            </a:r>
            <a:r>
              <a:rPr lang="it-IT" dirty="0" err="1">
                <a:solidFill>
                  <a:schemeClr val="tx1"/>
                </a:solidFill>
              </a:rPr>
              <a:t>cmd_pos</a:t>
            </a:r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29" name="Freccia in giù 28">
            <a:extLst>
              <a:ext uri="{FF2B5EF4-FFF2-40B4-BE49-F238E27FC236}">
                <a16:creationId xmlns:a16="http://schemas.microsoft.com/office/drawing/2014/main" id="{768FC494-5DC9-0C2E-24D9-3B0743853BC7}"/>
              </a:ext>
            </a:extLst>
          </p:cNvPr>
          <p:cNvSpPr/>
          <p:nvPr/>
        </p:nvSpPr>
        <p:spPr>
          <a:xfrm>
            <a:off x="7531014" y="588387"/>
            <a:ext cx="238454" cy="236169"/>
          </a:xfrm>
          <a:prstGeom prst="down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Freccia in giù 29">
            <a:extLst>
              <a:ext uri="{FF2B5EF4-FFF2-40B4-BE49-F238E27FC236}">
                <a16:creationId xmlns:a16="http://schemas.microsoft.com/office/drawing/2014/main" id="{7F25EDC0-4B85-5EC3-2BDF-016395EFBECD}"/>
              </a:ext>
            </a:extLst>
          </p:cNvPr>
          <p:cNvSpPr/>
          <p:nvPr/>
        </p:nvSpPr>
        <p:spPr>
          <a:xfrm>
            <a:off x="7531014" y="1158073"/>
            <a:ext cx="238454" cy="236169"/>
          </a:xfrm>
          <a:prstGeom prst="down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Freccia in giù 30">
            <a:extLst>
              <a:ext uri="{FF2B5EF4-FFF2-40B4-BE49-F238E27FC236}">
                <a16:creationId xmlns:a16="http://schemas.microsoft.com/office/drawing/2014/main" id="{59E39E7D-F17A-E5AB-BC68-43711AED2BF8}"/>
              </a:ext>
            </a:extLst>
          </p:cNvPr>
          <p:cNvSpPr/>
          <p:nvPr/>
        </p:nvSpPr>
        <p:spPr>
          <a:xfrm rot="10800000">
            <a:off x="7529761" y="1727759"/>
            <a:ext cx="238454" cy="236169"/>
          </a:xfrm>
          <a:prstGeom prst="downArrow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2" name="Immagine 31" descr="3D Cube - Free shapes icons">
            <a:extLst>
              <a:ext uri="{FF2B5EF4-FFF2-40B4-BE49-F238E27FC236}">
                <a16:creationId xmlns:a16="http://schemas.microsoft.com/office/drawing/2014/main" id="{62839CD8-4D19-2BE2-2A1E-49D1B6EE1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041" y="1653850"/>
            <a:ext cx="181885" cy="18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58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9A2BA4-5285-0266-1F60-28A577E79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i="1" noProof="0" dirty="0"/>
              <a:t>CONTROLLER Node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8631A0-064D-96FA-ED91-B439E920B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54592"/>
            <a:ext cx="10890928" cy="3566160"/>
          </a:xfrm>
        </p:spPr>
        <p:txBody>
          <a:bodyPr/>
          <a:lstStyle/>
          <a:p>
            <a:r>
              <a:rPr lang="en-US" b="1" noProof="0" dirty="0"/>
              <a:t>CONVEYOR BELT</a:t>
            </a:r>
            <a:r>
              <a:rPr lang="en-US" noProof="0" dirty="0"/>
              <a:t> controller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Supports variable belt speed values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Defalut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belt speed is set 1 m/s</a:t>
            </a:r>
          </a:p>
          <a:p>
            <a:pPr lvl="1"/>
            <a:endParaRPr lang="en-US" noProof="0" dirty="0"/>
          </a:p>
          <a:p>
            <a:r>
              <a:rPr lang="en-US" dirty="0"/>
              <a:t>Continuously publishes belt speed to pusher node and commands simulated conveyor belt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Continuous publishing ensures simulation stability and actuation accuracy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dirty="0"/>
              <a:t>Immediately stops if the check node detects a defective part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61AD1F58-E49C-1592-7B0F-80D82E8656AB}"/>
              </a:ext>
            </a:extLst>
          </p:cNvPr>
          <p:cNvSpPr/>
          <p:nvPr/>
        </p:nvSpPr>
        <p:spPr>
          <a:xfrm>
            <a:off x="7866269" y="476161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/check/</a:t>
            </a:r>
            <a:r>
              <a:rPr lang="it-IT" dirty="0" err="1">
                <a:solidFill>
                  <a:schemeClr val="tx1"/>
                </a:solidFill>
              </a:rPr>
              <a:t>detection_result</a:t>
            </a:r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457F8BFF-5427-4784-51DA-473005CE9403}"/>
              </a:ext>
            </a:extLst>
          </p:cNvPr>
          <p:cNvSpPr/>
          <p:nvPr/>
        </p:nvSpPr>
        <p:spPr>
          <a:xfrm>
            <a:off x="7866269" y="1044592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/config/</a:t>
            </a:r>
            <a:r>
              <a:rPr lang="en-US" dirty="0" err="1">
                <a:solidFill>
                  <a:schemeClr val="tx1"/>
                </a:solidFill>
              </a:rPr>
              <a:t>belt_speed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63858071-AECA-E4E1-A23C-43B1369B7A38}"/>
              </a:ext>
            </a:extLst>
          </p:cNvPr>
          <p:cNvSpPr/>
          <p:nvPr/>
        </p:nvSpPr>
        <p:spPr>
          <a:xfrm>
            <a:off x="7866269" y="1613023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n-NO" dirty="0">
                <a:solidFill>
                  <a:schemeClr val="tx1"/>
                </a:solidFill>
              </a:rPr>
              <a:t>/gazebo/conveyor_belt/cmd_vel</a:t>
            </a:r>
          </a:p>
        </p:txBody>
      </p:sp>
      <p:sp>
        <p:nvSpPr>
          <p:cNvPr id="20" name="Freccia in giù 19">
            <a:extLst>
              <a:ext uri="{FF2B5EF4-FFF2-40B4-BE49-F238E27FC236}">
                <a16:creationId xmlns:a16="http://schemas.microsoft.com/office/drawing/2014/main" id="{C5160A7C-1A26-539F-0AD6-AB94F7660716}"/>
              </a:ext>
            </a:extLst>
          </p:cNvPr>
          <p:cNvSpPr/>
          <p:nvPr/>
        </p:nvSpPr>
        <p:spPr>
          <a:xfrm>
            <a:off x="7531014" y="590898"/>
            <a:ext cx="238454" cy="236169"/>
          </a:xfrm>
          <a:prstGeom prst="down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1" name="Freccia in giù 20">
            <a:extLst>
              <a:ext uri="{FF2B5EF4-FFF2-40B4-BE49-F238E27FC236}">
                <a16:creationId xmlns:a16="http://schemas.microsoft.com/office/drawing/2014/main" id="{C8782AB4-9C9F-C4B6-9ED8-04245D0A0750}"/>
              </a:ext>
            </a:extLst>
          </p:cNvPr>
          <p:cNvSpPr/>
          <p:nvPr/>
        </p:nvSpPr>
        <p:spPr>
          <a:xfrm rot="10800000">
            <a:off x="7530755" y="1159329"/>
            <a:ext cx="238454" cy="236169"/>
          </a:xfrm>
          <a:prstGeom prst="downArrow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Freccia in giù 21">
            <a:extLst>
              <a:ext uri="{FF2B5EF4-FFF2-40B4-BE49-F238E27FC236}">
                <a16:creationId xmlns:a16="http://schemas.microsoft.com/office/drawing/2014/main" id="{522C7E66-56F3-5631-D514-C23BAD1F868D}"/>
              </a:ext>
            </a:extLst>
          </p:cNvPr>
          <p:cNvSpPr/>
          <p:nvPr/>
        </p:nvSpPr>
        <p:spPr>
          <a:xfrm rot="10800000">
            <a:off x="7529502" y="1727760"/>
            <a:ext cx="238454" cy="236169"/>
          </a:xfrm>
          <a:prstGeom prst="downArrow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3" name="Immagine 22" descr="3D Cube - Free shapes icons">
            <a:extLst>
              <a:ext uri="{FF2B5EF4-FFF2-40B4-BE49-F238E27FC236}">
                <a16:creationId xmlns:a16="http://schemas.microsoft.com/office/drawing/2014/main" id="{BA0AE35F-2F8C-985C-883C-EAA19CDB7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041" y="1653850"/>
            <a:ext cx="181885" cy="18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935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E38C726-DF89-A2FA-99D4-8E98C5CAD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i="1" noProof="0" dirty="0"/>
              <a:t>Other ROS NODES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9C9A1D-78FA-8BF4-EBB3-889103084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54592"/>
            <a:ext cx="10890928" cy="356616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ts val="0"/>
              </a:spcBef>
            </a:pPr>
            <a:r>
              <a:rPr lang="en-US" b="1" noProof="0" dirty="0"/>
              <a:t>CLEANER</a:t>
            </a:r>
            <a:r>
              <a:rPr lang="en-US" noProof="0" dirty="0"/>
              <a:t> Node: </a:t>
            </a:r>
            <a:r>
              <a:rPr lang="en-US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removes fallen object from the simulation</a:t>
            </a:r>
          </a:p>
          <a:p>
            <a:pPr lvl="1"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Invokes a Gazebo service to delete objects</a:t>
            </a:r>
          </a:p>
          <a:p>
            <a:pPr lvl="1"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Removal occurs 15 seconds after they reach the ground</a:t>
            </a:r>
          </a:p>
          <a:p>
            <a:pPr marL="0" indent="0">
              <a:spcBef>
                <a:spcPts val="0"/>
              </a:spcBef>
              <a:buNone/>
            </a:pPr>
            <a:endParaRPr lang="en-US" noProof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b="1" noProof="0" dirty="0"/>
              <a:t>DUMMY CAMERA</a:t>
            </a:r>
            <a:r>
              <a:rPr lang="en-US" noProof="0" dirty="0"/>
              <a:t> Node: </a:t>
            </a:r>
            <a:r>
              <a:rPr lang="en-US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generates fake camera images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Provides a mock interface for a Gazebo camera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Enables system testing without a Gazebo simulation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F8C582A8-7F60-F5AC-4E18-C439D3CB3970}"/>
              </a:ext>
            </a:extLst>
          </p:cNvPr>
          <p:cNvSpPr/>
          <p:nvPr/>
        </p:nvSpPr>
        <p:spPr>
          <a:xfrm>
            <a:off x="7866269" y="476161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/gazebo/</a:t>
            </a:r>
            <a:r>
              <a:rPr lang="it-IT" sz="1600" dirty="0" err="1">
                <a:solidFill>
                  <a:schemeClr val="tx1"/>
                </a:solidFill>
              </a:rPr>
              <a:t>spawned_objects</a:t>
            </a:r>
            <a:r>
              <a:rPr lang="it-IT" sz="1600" dirty="0">
                <a:solidFill>
                  <a:schemeClr val="tx1"/>
                </a:solidFill>
              </a:rPr>
              <a:t>/</a:t>
            </a:r>
            <a:r>
              <a:rPr lang="it-IT" sz="1600" dirty="0" err="1">
                <a:solidFill>
                  <a:schemeClr val="tx1"/>
                </a:solidFill>
              </a:rPr>
              <a:t>odometry</a:t>
            </a:r>
            <a:endParaRPr lang="it-IT" sz="1600" dirty="0">
              <a:solidFill>
                <a:schemeClr val="tx1"/>
              </a:solidFill>
            </a:endParaRP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E365BFC9-7584-29CE-BBCD-E82879A3C991}"/>
              </a:ext>
            </a:extLst>
          </p:cNvPr>
          <p:cNvSpPr/>
          <p:nvPr/>
        </p:nvSpPr>
        <p:spPr>
          <a:xfrm>
            <a:off x="7866269" y="1044592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ros_gz_interfaces/srv/DeleteEntity</a:t>
            </a:r>
          </a:p>
        </p:txBody>
      </p:sp>
      <p:sp>
        <p:nvSpPr>
          <p:cNvPr id="15" name="Freccia in giù 14">
            <a:extLst>
              <a:ext uri="{FF2B5EF4-FFF2-40B4-BE49-F238E27FC236}">
                <a16:creationId xmlns:a16="http://schemas.microsoft.com/office/drawing/2014/main" id="{29BFF45F-4A2D-886E-697E-5A010D71A69B}"/>
              </a:ext>
            </a:extLst>
          </p:cNvPr>
          <p:cNvSpPr/>
          <p:nvPr/>
        </p:nvSpPr>
        <p:spPr>
          <a:xfrm>
            <a:off x="7531014" y="592799"/>
            <a:ext cx="238454" cy="236169"/>
          </a:xfrm>
          <a:prstGeom prst="down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8" name="Immagine 17" descr="3D Cube - Free shapes icons">
            <a:extLst>
              <a:ext uri="{FF2B5EF4-FFF2-40B4-BE49-F238E27FC236}">
                <a16:creationId xmlns:a16="http://schemas.microsoft.com/office/drawing/2014/main" id="{16441F20-4909-E0D5-DAD6-1E2052063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041" y="527497"/>
            <a:ext cx="181885" cy="181885"/>
          </a:xfrm>
          <a:prstGeom prst="rect">
            <a:avLst/>
          </a:prstGeom>
        </p:spPr>
      </p:pic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86C56541-839F-2E33-0494-0CAECFDDA6C6}"/>
              </a:ext>
            </a:extLst>
          </p:cNvPr>
          <p:cNvCxnSpPr>
            <a:cxnSpLocks/>
          </p:cNvCxnSpPr>
          <p:nvPr/>
        </p:nvCxnSpPr>
        <p:spPr>
          <a:xfrm>
            <a:off x="7456488" y="1604742"/>
            <a:ext cx="4321711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ttangolo 25">
            <a:extLst>
              <a:ext uri="{FF2B5EF4-FFF2-40B4-BE49-F238E27FC236}">
                <a16:creationId xmlns:a16="http://schemas.microsoft.com/office/drawing/2014/main" id="{CAC7D45B-2C91-9424-5F09-C8B386E974B2}"/>
              </a:ext>
            </a:extLst>
          </p:cNvPr>
          <p:cNvSpPr/>
          <p:nvPr/>
        </p:nvSpPr>
        <p:spPr>
          <a:xfrm>
            <a:off x="7866268" y="1697372"/>
            <a:ext cx="3812827" cy="4656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/camera1/</a:t>
            </a:r>
            <a:r>
              <a:rPr lang="it-IT" dirty="0" err="1">
                <a:solidFill>
                  <a:schemeClr val="tx1"/>
                </a:solidFill>
              </a:rPr>
              <a:t>image_raw</a:t>
            </a:r>
            <a:endParaRPr lang="it-IT" dirty="0">
              <a:solidFill>
                <a:schemeClr val="tx1"/>
              </a:solidFill>
            </a:endParaRPr>
          </a:p>
        </p:txBody>
      </p:sp>
      <p:sp>
        <p:nvSpPr>
          <p:cNvPr id="30" name="Freccia in giù 29">
            <a:extLst>
              <a:ext uri="{FF2B5EF4-FFF2-40B4-BE49-F238E27FC236}">
                <a16:creationId xmlns:a16="http://schemas.microsoft.com/office/drawing/2014/main" id="{F46AC9EB-A043-CC21-19F7-F0C6064CF52F}"/>
              </a:ext>
            </a:extLst>
          </p:cNvPr>
          <p:cNvSpPr/>
          <p:nvPr/>
        </p:nvSpPr>
        <p:spPr>
          <a:xfrm rot="10800000">
            <a:off x="7541874" y="1811369"/>
            <a:ext cx="238454" cy="236169"/>
          </a:xfrm>
          <a:prstGeom prst="downArrow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Freccia bidirezionale orizzontale 30">
            <a:extLst>
              <a:ext uri="{FF2B5EF4-FFF2-40B4-BE49-F238E27FC236}">
                <a16:creationId xmlns:a16="http://schemas.microsoft.com/office/drawing/2014/main" id="{4FDAFD84-AEAC-0B4B-E106-2B431DCE39D7}"/>
              </a:ext>
            </a:extLst>
          </p:cNvPr>
          <p:cNvSpPr/>
          <p:nvPr/>
        </p:nvSpPr>
        <p:spPr>
          <a:xfrm>
            <a:off x="7499165" y="1161950"/>
            <a:ext cx="302153" cy="236166"/>
          </a:xfrm>
          <a:prstGeom prst="leftRightArrow">
            <a:avLst>
              <a:gd name="adj1" fmla="val 51344"/>
              <a:gd name="adj2" fmla="val 41262"/>
            </a:avLst>
          </a:prstGeom>
          <a:solidFill>
            <a:srgbClr val="C6E6B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981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8106CE-7E6A-C820-6A22-278CD6E4B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1"/>
            <a:ext cx="3713918" cy="699424"/>
          </a:xfrm>
        </p:spPr>
        <p:txBody>
          <a:bodyPr>
            <a:normAutofit/>
          </a:bodyPr>
          <a:lstStyle/>
          <a:p>
            <a:r>
              <a:rPr lang="en-US" sz="3800" i="1" noProof="0" dirty="0"/>
              <a:t>CONCURRENCY</a:t>
            </a:r>
          </a:p>
        </p:txBody>
      </p:sp>
      <p:pic>
        <p:nvPicPr>
          <p:cNvPr id="8" name="Elemento grafico 7">
            <a:extLst>
              <a:ext uri="{FF2B5EF4-FFF2-40B4-BE49-F238E27FC236}">
                <a16:creationId xmlns:a16="http://schemas.microsoft.com/office/drawing/2014/main" id="{FF3FD918-0740-5659-897C-F541F92E7C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60" t="9887" r="3621" b="5778"/>
          <a:stretch>
            <a:fillRect/>
          </a:stretch>
        </p:blipFill>
        <p:spPr>
          <a:xfrm>
            <a:off x="1947893" y="2416195"/>
            <a:ext cx="8296214" cy="412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77676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510</Words>
  <Application>Microsoft Office PowerPoint</Application>
  <PresentationFormat>Widescreen</PresentationFormat>
  <Paragraphs>67</Paragraphs>
  <Slides>8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3" baseType="lpstr">
      <vt:lpstr>Arial</vt:lpstr>
      <vt:lpstr>Calibri</vt:lpstr>
      <vt:lpstr>Grandview Display</vt:lpstr>
      <vt:lpstr>Wingdings</vt:lpstr>
      <vt:lpstr>DashVTI</vt:lpstr>
      <vt:lpstr>PartInspect</vt:lpstr>
      <vt:lpstr>The ACTORS</vt:lpstr>
      <vt:lpstr>SYSTEM OVERVIEW</vt:lpstr>
      <vt:lpstr>VISION (&amp; CHECK) Node</vt:lpstr>
      <vt:lpstr>PUSHER Node</vt:lpstr>
      <vt:lpstr>CONTROLLER Node</vt:lpstr>
      <vt:lpstr>Other ROS NODES</vt:lpstr>
      <vt:lpstr>CONCURRENCY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OtherUser</cp:lastModifiedBy>
  <cp:revision>146</cp:revision>
  <dcterms:created xsi:type="dcterms:W3CDTF">2026-07-11T09:13:02Z</dcterms:created>
  <dcterms:modified xsi:type="dcterms:W3CDTF">2026-07-13T08:44:03Z</dcterms:modified>
</cp:coreProperties>
</file>