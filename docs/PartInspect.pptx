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3" r:id="rId4"/>
    <p:sldId id="261" r:id="rId5"/>
    <p:sldId id="260" r:id="rId6"/>
    <p:sldId id="262" r:id="rId7"/>
    <p:sldId id="259" r:id="rId8"/>
    <p:sldId id="25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6B4"/>
    <a:srgbClr val="B5DE9E"/>
    <a:srgbClr val="97D077"/>
    <a:srgbClr val="197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A9C4D-B7B4-BE86-619E-1BAF99DAFFC4}" v="354" dt="2026-07-11T17:15:58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83527" autoAdjust="0"/>
  </p:normalViewPr>
  <p:slideViewPr>
    <p:cSldViewPr snapToGrid="0">
      <p:cViewPr varScale="1">
        <p:scale>
          <a:sx n="105" d="100"/>
          <a:sy n="105" d="100"/>
        </p:scale>
        <p:origin x="6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7D65A-7476-4DC8-A720-DB0FE5A941CD}" type="datetimeFigureOut">
              <a:rPr lang="it-IT" smtClean="0"/>
              <a:t>12/07/2026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46757-F6AF-4C10-AC72-994401E30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1821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Morphological</a:t>
            </a:r>
            <a:r>
              <a:rPr lang="it-IT" dirty="0"/>
              <a:t> opening </a:t>
            </a:r>
            <a:r>
              <a:rPr lang="it-IT" dirty="0" err="1"/>
              <a:t>cleans</a:t>
            </a:r>
            <a:r>
              <a:rPr lang="it-IT" dirty="0"/>
              <a:t> the image by </a:t>
            </a:r>
            <a:r>
              <a:rPr lang="it-IT" dirty="0" err="1"/>
              <a:t>deleting</a:t>
            </a:r>
            <a:r>
              <a:rPr lang="it-IT" dirty="0"/>
              <a:t> </a:t>
            </a:r>
            <a:r>
              <a:rPr lang="it-IT" dirty="0" err="1"/>
              <a:t>isolated</a:t>
            </a:r>
            <a:r>
              <a:rPr lang="it-IT" dirty="0"/>
              <a:t> pixels.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useful</a:t>
            </a:r>
            <a:r>
              <a:rPr lang="it-IT" dirty="0"/>
              <a:t> </a:t>
            </a:r>
            <a:r>
              <a:rPr lang="it-IT" dirty="0" err="1"/>
              <a:t>especially</a:t>
            </a:r>
            <a:r>
              <a:rPr lang="it-IT" dirty="0"/>
              <a:t> after a </a:t>
            </a:r>
            <a:r>
              <a:rPr lang="it-IT" dirty="0" err="1"/>
              <a:t>thresholding</a:t>
            </a:r>
            <a:r>
              <a:rPr lang="it-IT" dirty="0"/>
              <a:t> </a:t>
            </a:r>
            <a:r>
              <a:rPr lang="it-IT" dirty="0" err="1"/>
              <a:t>operation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polygon</a:t>
            </a:r>
            <a:r>
              <a:rPr lang="it-IT" dirty="0"/>
              <a:t> </a:t>
            </a:r>
            <a:r>
              <a:rPr lang="it-IT" dirty="0" err="1"/>
              <a:t>approximation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the Douglas-</a:t>
            </a:r>
            <a:r>
              <a:rPr lang="it-IT" dirty="0" err="1"/>
              <a:t>Peucker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, and </a:t>
            </a:r>
            <a:r>
              <a:rPr lang="it-IT" dirty="0" err="1"/>
              <a:t>finds</a:t>
            </a:r>
            <a:r>
              <a:rPr lang="it-IT" dirty="0"/>
              <a:t> the </a:t>
            </a:r>
            <a:r>
              <a:rPr lang="it-IT" dirty="0" err="1"/>
              <a:t>polygon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object</a:t>
            </a:r>
            <a:r>
              <a:rPr lang="it-IT" dirty="0"/>
              <a:t> pixels.</a:t>
            </a:r>
            <a:endParaRPr lang="it-IT" u="sng" dirty="0"/>
          </a:p>
          <a:p>
            <a:r>
              <a:rPr lang="it-IT" u="none" dirty="0" err="1"/>
              <a:t>It</a:t>
            </a:r>
            <a:r>
              <a:rPr lang="it-IT" u="none" dirty="0"/>
              <a:t> </a:t>
            </a:r>
            <a:r>
              <a:rPr lang="it-IT" u="none" dirty="0" err="1"/>
              <a:t>reduces</a:t>
            </a:r>
            <a:r>
              <a:rPr lang="it-IT" u="none" dirty="0"/>
              <a:t> the image to just the </a:t>
            </a:r>
            <a:r>
              <a:rPr lang="it-IT" u="none" dirty="0" err="1"/>
              <a:t>vertices</a:t>
            </a:r>
            <a:r>
              <a:rPr lang="it-IT" u="none" dirty="0"/>
              <a:t> of the </a:t>
            </a:r>
            <a:r>
              <a:rPr lang="it-IT" u="none" dirty="0" err="1"/>
              <a:t>borders</a:t>
            </a:r>
            <a:r>
              <a:rPr lang="it-IT" u="none" dirty="0"/>
              <a:t>, so </a:t>
            </a:r>
            <a:r>
              <a:rPr lang="it-IT" u="none" dirty="0" err="1"/>
              <a:t>it</a:t>
            </a:r>
            <a:r>
              <a:rPr lang="it-IT" u="none" dirty="0"/>
              <a:t> </a:t>
            </a:r>
            <a:r>
              <a:rPr lang="it-IT" u="none" dirty="0" err="1"/>
              <a:t>keeps</a:t>
            </a:r>
            <a:r>
              <a:rPr lang="it-IT" u="none" dirty="0"/>
              <a:t> the </a:t>
            </a:r>
            <a:r>
              <a:rPr lang="it-IT" u="none" dirty="0" err="1"/>
              <a:t>shape</a:t>
            </a:r>
            <a:r>
              <a:rPr lang="it-IT" u="none" dirty="0"/>
              <a:t> </a:t>
            </a:r>
            <a:r>
              <a:rPr lang="it-IT" u="none" dirty="0" err="1"/>
              <a:t>without</a:t>
            </a:r>
            <a:r>
              <a:rPr lang="it-IT" u="none" dirty="0"/>
              <a:t> </a:t>
            </a:r>
            <a:r>
              <a:rPr lang="it-IT" u="none" dirty="0" err="1"/>
              <a:t>considering</a:t>
            </a:r>
            <a:r>
              <a:rPr lang="it-IT" u="none" dirty="0"/>
              <a:t> </a:t>
            </a:r>
            <a:r>
              <a:rPr lang="it-IT" u="none" dirty="0" err="1"/>
              <a:t>all</a:t>
            </a:r>
            <a:r>
              <a:rPr lang="it-IT" u="none" dirty="0"/>
              <a:t> the image pixels (</a:t>
            </a:r>
            <a:r>
              <a:rPr lang="it-IT" u="none" dirty="0" err="1"/>
              <a:t>reducing</a:t>
            </a:r>
            <a:r>
              <a:rPr lang="it-IT" u="none" dirty="0"/>
              <a:t> the </a:t>
            </a:r>
            <a:r>
              <a:rPr lang="it-IT" u="none" dirty="0" err="1"/>
              <a:t>complexity</a:t>
            </a:r>
            <a:r>
              <a:rPr lang="it-IT" u="none" dirty="0"/>
              <a:t>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46757-F6AF-4C10-AC72-994401E30A9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793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All </a:t>
            </a:r>
            <a:r>
              <a:rPr lang="it-IT" dirty="0" err="1"/>
              <a:t>nodes</a:t>
            </a:r>
            <a:r>
              <a:rPr lang="it-IT" dirty="0"/>
              <a:t> (a part from the dummy camera </a:t>
            </a:r>
            <a:r>
              <a:rPr lang="it-IT" dirty="0" err="1"/>
              <a:t>node</a:t>
            </a:r>
            <a:r>
              <a:rPr lang="it-IT" dirty="0"/>
              <a:t>) works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frequency: 20Hz</a:t>
            </a:r>
          </a:p>
          <a:p>
            <a:r>
              <a:rPr lang="it-IT" dirty="0" err="1"/>
              <a:t>However</a:t>
            </a:r>
            <a:r>
              <a:rPr lang="it-IT" dirty="0"/>
              <a:t>,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mandatory</a:t>
            </a:r>
            <a:r>
              <a:rPr lang="it-IT" dirty="0"/>
              <a:t>: controller and pusher can </a:t>
            </a:r>
            <a:r>
              <a:rPr lang="it-IT" dirty="0" err="1"/>
              <a:t>also</a:t>
            </a:r>
            <a:r>
              <a:rPr lang="it-IT" dirty="0"/>
              <a:t> work </a:t>
            </a:r>
            <a:r>
              <a:rPr lang="it-IT" dirty="0" err="1"/>
              <a:t>at</a:t>
            </a:r>
            <a:r>
              <a:rPr lang="it-IT" dirty="0"/>
              <a:t> a </a:t>
            </a:r>
            <a:r>
              <a:rPr lang="it-IT" dirty="0" err="1"/>
              <a:t>different</a:t>
            </a:r>
            <a:r>
              <a:rPr lang="it-IT" dirty="0"/>
              <a:t> frequency.</a:t>
            </a:r>
          </a:p>
          <a:p>
            <a:endParaRPr lang="it-IT" dirty="0"/>
          </a:p>
          <a:p>
            <a:r>
              <a:rPr lang="it-IT" dirty="0"/>
              <a:t>Dummy camera </a:t>
            </a:r>
            <a:r>
              <a:rPr lang="it-IT" dirty="0" err="1"/>
              <a:t>node</a:t>
            </a:r>
            <a:r>
              <a:rPr lang="it-IT" dirty="0"/>
              <a:t> </a:t>
            </a:r>
            <a:r>
              <a:rPr lang="it-IT" dirty="0" err="1"/>
              <a:t>generates</a:t>
            </a:r>
            <a:r>
              <a:rPr lang="it-IT" dirty="0"/>
              <a:t> an image </a:t>
            </a:r>
            <a:r>
              <a:rPr lang="it-IT" dirty="0" err="1"/>
              <a:t>every</a:t>
            </a:r>
            <a:r>
              <a:rPr lang="it-IT" dirty="0"/>
              <a:t> 2 seconds, so </a:t>
            </a:r>
            <a:r>
              <a:rPr lang="it-IT" dirty="0" err="1"/>
              <a:t>it</a:t>
            </a:r>
            <a:r>
              <a:rPr lang="it-IT" dirty="0"/>
              <a:t> works </a:t>
            </a:r>
            <a:r>
              <a:rPr lang="it-IT" dirty="0" err="1"/>
              <a:t>at</a:t>
            </a:r>
            <a:r>
              <a:rPr lang="it-IT" dirty="0"/>
              <a:t> the frequency of 0.5Hz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46757-F6AF-4C10-AC72-994401E30A9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4172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8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4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07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3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3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1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3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3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1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21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75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sz="4400" i="1" noProof="0" dirty="0" err="1"/>
              <a:t>PartInspect</a:t>
            </a:r>
            <a:endParaRPr lang="en-US" sz="4400" i="1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0950" y="4532626"/>
            <a:ext cx="3250068" cy="1140304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1200" noProof="0" dirty="0">
                <a:ea typeface="+mn-lt"/>
                <a:cs typeface="+mn-lt"/>
              </a:rPr>
              <a:t>A simulated </a:t>
            </a:r>
            <a:r>
              <a:rPr lang="en-US" sz="1200" noProof="0" dirty="0">
                <a:solidFill>
                  <a:schemeClr val="accent1">
                    <a:lumMod val="49000"/>
                  </a:schemeClr>
                </a:solidFill>
              </a:rPr>
              <a:t>ROS2</a:t>
            </a:r>
            <a:r>
              <a:rPr lang="en-US" sz="1200" noProof="0" dirty="0">
                <a:ea typeface="+mn-lt"/>
                <a:cs typeface="+mn-lt"/>
              </a:rPr>
              <a:t> and </a:t>
            </a:r>
            <a:r>
              <a:rPr lang="en-US" sz="1200" noProof="0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Gazebo</a:t>
            </a:r>
            <a:r>
              <a:rPr lang="en-US" sz="1200" noProof="0" dirty="0">
                <a:ea typeface="+mn-lt"/>
                <a:cs typeface="+mn-lt"/>
              </a:rPr>
              <a:t> environment for </a:t>
            </a:r>
            <a:r>
              <a:rPr lang="en-US" sz="1200" noProof="0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automated quality inspection in manufacturing</a:t>
            </a:r>
            <a:r>
              <a:rPr lang="en-US" sz="1200" noProof="0" dirty="0">
                <a:ea typeface="+mn-lt"/>
                <a:cs typeface="+mn-lt"/>
              </a:rPr>
              <a:t>.</a:t>
            </a:r>
            <a:endParaRPr lang="en-US" sz="1200" i="1" noProof="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What is Manufacturing? - Newsroom">
            <a:extLst>
              <a:ext uri="{FF2B5EF4-FFF2-40B4-BE49-F238E27FC236}">
                <a16:creationId xmlns:a16="http://schemas.microsoft.com/office/drawing/2014/main" id="{523EE696-2895-4C35-7461-EF94F1475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474687"/>
            <a:ext cx="7086286" cy="398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B474B3C-D1A0-AE4E-0156-39AF4ED5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719909"/>
          </a:xfrm>
        </p:spPr>
        <p:txBody>
          <a:bodyPr>
            <a:normAutofit/>
          </a:bodyPr>
          <a:lstStyle/>
          <a:p>
            <a:r>
              <a:rPr lang="en-US" sz="3800" i="1" noProof="0" dirty="0"/>
              <a:t>The ACTORS</a:t>
            </a:r>
          </a:p>
        </p:txBody>
      </p:sp>
      <p:pic>
        <p:nvPicPr>
          <p:cNvPr id="5" name="Picture 4" descr="Pacchetti su nastro trasportatore">
            <a:extLst>
              <a:ext uri="{FF2B5EF4-FFF2-40B4-BE49-F238E27FC236}">
                <a16:creationId xmlns:a16="http://schemas.microsoft.com/office/drawing/2014/main" id="{152E6A0D-6B07-F778-13C8-3BD674545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12" r="42775" b="-3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E2F7C2-FA8A-6EDE-B79C-5858B27DD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22495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noProof="0" dirty="0"/>
              <a:t>A </a:t>
            </a:r>
            <a:r>
              <a:rPr lang="en-US" sz="1800" b="1" noProof="0" dirty="0"/>
              <a:t>CONVEYOR BELT</a:t>
            </a:r>
          </a:p>
          <a:p>
            <a:r>
              <a:rPr lang="en-US" sz="1800" noProof="0" dirty="0"/>
              <a:t>A </a:t>
            </a:r>
            <a:r>
              <a:rPr lang="en-US" sz="1800" b="1" noProof="0" dirty="0"/>
              <a:t>VISION SYSTEM</a:t>
            </a:r>
            <a:r>
              <a:rPr lang="en-US" sz="1800" noProof="0" dirty="0"/>
              <a:t> (made of 2 cameras alongside the conveyor belt)</a:t>
            </a:r>
          </a:p>
          <a:p>
            <a:r>
              <a:rPr lang="en-US" sz="1800" noProof="0" dirty="0"/>
              <a:t>A </a:t>
            </a:r>
            <a:r>
              <a:rPr lang="en-US" sz="1800" b="1" noProof="0" dirty="0"/>
              <a:t>SOLENOID ACTUATOR</a:t>
            </a:r>
          </a:p>
          <a:p>
            <a:r>
              <a:rPr lang="en-US" sz="1800" b="1" noProof="0" dirty="0"/>
              <a:t>OBJECTS</a:t>
            </a:r>
            <a:r>
              <a:rPr lang="en-US" sz="1800" noProof="0" dirty="0"/>
              <a:t> (</a:t>
            </a:r>
            <a:r>
              <a:rPr lang="en-US" sz="1800" noProof="0" dirty="0">
                <a:solidFill>
                  <a:schemeClr val="accent1">
                    <a:lumMod val="76000"/>
                  </a:schemeClr>
                </a:solidFill>
              </a:rPr>
              <a:t>cubes </a:t>
            </a:r>
            <a:r>
              <a:rPr lang="en-US" sz="1800" noProof="0" dirty="0"/>
              <a:t>and </a:t>
            </a:r>
            <a:r>
              <a:rPr lang="en-US" sz="1800" noProof="0" dirty="0">
                <a:solidFill>
                  <a:schemeClr val="accent5">
                    <a:lumMod val="49000"/>
                  </a:schemeClr>
                </a:solidFill>
              </a:rPr>
              <a:t>cones</a:t>
            </a:r>
            <a:r>
              <a:rPr lang="en-US" sz="1800" noProof="0" dirty="0"/>
              <a:t>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8B6081-A3C7-9931-0257-9CCC52AA2DE5}"/>
              </a:ext>
            </a:extLst>
          </p:cNvPr>
          <p:cNvSpPr txBox="1"/>
          <p:nvPr/>
        </p:nvSpPr>
        <p:spPr>
          <a:xfrm>
            <a:off x="5499594" y="5617028"/>
            <a:ext cx="25136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noProof="0" dirty="0">
                <a:solidFill>
                  <a:srgbClr val="0F55B3"/>
                </a:solidFill>
              </a:rPr>
              <a:t>Good parts (preserved)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1BEBA6-7BF5-5C3D-5E78-645257FAC155}"/>
              </a:ext>
            </a:extLst>
          </p:cNvPr>
          <p:cNvSpPr txBox="1"/>
          <p:nvPr/>
        </p:nvSpPr>
        <p:spPr>
          <a:xfrm>
            <a:off x="8676498" y="5477164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noProof="0" dirty="0">
                <a:solidFill>
                  <a:schemeClr val="accent5">
                    <a:lumMod val="49000"/>
                  </a:schemeClr>
                </a:solidFill>
              </a:rPr>
              <a:t>Bad parts (pushed away from the solenoid)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CADFFAC9-E4FD-D97F-7EF8-4EE20305767E}"/>
              </a:ext>
            </a:extLst>
          </p:cNvPr>
          <p:cNvCxnSpPr>
            <a:cxnSpLocks/>
          </p:cNvCxnSpPr>
          <p:nvPr/>
        </p:nvCxnSpPr>
        <p:spPr>
          <a:xfrm>
            <a:off x="8483936" y="4820281"/>
            <a:ext cx="732732" cy="545006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EDBAB7C-A213-FA3A-88E7-5CC8A18310B3}"/>
              </a:ext>
            </a:extLst>
          </p:cNvPr>
          <p:cNvCxnSpPr>
            <a:cxnSpLocks/>
          </p:cNvCxnSpPr>
          <p:nvPr/>
        </p:nvCxnSpPr>
        <p:spPr>
          <a:xfrm flipH="1">
            <a:off x="6848917" y="4839194"/>
            <a:ext cx="248280" cy="647206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18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9D583-1ACB-E66C-E958-07714061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567762" cy="699424"/>
          </a:xfrm>
        </p:spPr>
        <p:txBody>
          <a:bodyPr>
            <a:normAutofit/>
          </a:bodyPr>
          <a:lstStyle/>
          <a:p>
            <a:r>
              <a:rPr lang="en-US" sz="3800" i="1" noProof="0" dirty="0"/>
              <a:t>SYSTEM OVERVIEW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3F50D04-3994-A5F8-CF21-A7DCF6CAB3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249" y="2738461"/>
            <a:ext cx="6547951" cy="2842815"/>
          </a:xfrm>
          <a:prstGeom prst="rect">
            <a:avLst/>
          </a:prstGeom>
        </p:spPr>
      </p:pic>
      <p:grpSp>
        <p:nvGrpSpPr>
          <p:cNvPr id="16" name="Gruppo 15">
            <a:extLst>
              <a:ext uri="{FF2B5EF4-FFF2-40B4-BE49-F238E27FC236}">
                <a16:creationId xmlns:a16="http://schemas.microsoft.com/office/drawing/2014/main" id="{CC6DA4DB-E6EC-C696-C017-9FBB5091D554}"/>
              </a:ext>
            </a:extLst>
          </p:cNvPr>
          <p:cNvGrpSpPr/>
          <p:nvPr/>
        </p:nvGrpSpPr>
        <p:grpSpPr>
          <a:xfrm>
            <a:off x="8387046" y="2933484"/>
            <a:ext cx="3010705" cy="2683638"/>
            <a:chOff x="7672482" y="1750077"/>
            <a:chExt cx="3010705" cy="2683638"/>
          </a:xfrm>
        </p:grpSpPr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3194C649-B8AD-EB05-35AB-E22C0D1CB460}"/>
                </a:ext>
              </a:extLst>
            </p:cNvPr>
            <p:cNvGrpSpPr/>
            <p:nvPr/>
          </p:nvGrpSpPr>
          <p:grpSpPr>
            <a:xfrm>
              <a:off x="7672482" y="3207330"/>
              <a:ext cx="3010705" cy="1226385"/>
              <a:chOff x="7672482" y="3745287"/>
              <a:chExt cx="3010705" cy="1226385"/>
            </a:xfrm>
          </p:grpSpPr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7AC4CCDA-4FCC-2243-D03B-3C9EA2B72291}"/>
                  </a:ext>
                </a:extLst>
              </p:cNvPr>
              <p:cNvSpPr/>
              <p:nvPr/>
            </p:nvSpPr>
            <p:spPr>
              <a:xfrm>
                <a:off x="7672482" y="3745287"/>
                <a:ext cx="3010705" cy="12263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9" name="Elemento grafico 8">
                <a:extLst>
                  <a:ext uri="{FF2B5EF4-FFF2-40B4-BE49-F238E27FC236}">
                    <a16:creationId xmlns:a16="http://schemas.microsoft.com/office/drawing/2014/main" id="{49F10AFB-180C-07B1-23AF-AAC95BECE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b="56261"/>
              <a:stretch>
                <a:fillRect/>
              </a:stretch>
            </p:blipFill>
            <p:spPr>
              <a:xfrm>
                <a:off x="8167050" y="3979202"/>
                <a:ext cx="2031625" cy="760799"/>
              </a:xfrm>
              <a:prstGeom prst="rect">
                <a:avLst/>
              </a:prstGeom>
            </p:spPr>
          </p:pic>
        </p:grp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BB57B401-558F-F01E-DB90-AFC6E5F4A722}"/>
                </a:ext>
              </a:extLst>
            </p:cNvPr>
            <p:cNvGrpSpPr/>
            <p:nvPr/>
          </p:nvGrpSpPr>
          <p:grpSpPr>
            <a:xfrm>
              <a:off x="7672482" y="1750077"/>
              <a:ext cx="3010705" cy="1226385"/>
              <a:chOff x="7672482" y="1750077"/>
              <a:chExt cx="3010705" cy="1226385"/>
            </a:xfrm>
          </p:grpSpPr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0ACA5FB1-3B55-1EF0-E78D-3F470D19DED2}"/>
                  </a:ext>
                </a:extLst>
              </p:cNvPr>
              <p:cNvSpPr/>
              <p:nvPr/>
            </p:nvSpPr>
            <p:spPr>
              <a:xfrm>
                <a:off x="7672482" y="1750077"/>
                <a:ext cx="3010705" cy="122638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Elemento grafico 10">
                <a:extLst>
                  <a:ext uri="{FF2B5EF4-FFF2-40B4-BE49-F238E27FC236}">
                    <a16:creationId xmlns:a16="http://schemas.microsoft.com/office/drawing/2014/main" id="{92D311DD-DA1B-3FE4-BD49-AEF025E853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56040"/>
              <a:stretch>
                <a:fillRect/>
              </a:stretch>
            </p:blipFill>
            <p:spPr>
              <a:xfrm>
                <a:off x="8167050" y="1980945"/>
                <a:ext cx="2031625" cy="7646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9116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B12C1-0CDA-832D-5DB5-7511E49C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5548774" cy="729702"/>
          </a:xfrm>
        </p:spPr>
        <p:txBody>
          <a:bodyPr>
            <a:normAutofit/>
          </a:bodyPr>
          <a:lstStyle/>
          <a:p>
            <a:r>
              <a:rPr lang="en-US" sz="3800" i="1" noProof="0" dirty="0"/>
              <a:t>VISION (&amp; CHECK) Node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40A9514B-1DEB-63C6-EA4D-19B8A859DD34}"/>
              </a:ext>
            </a:extLst>
          </p:cNvPr>
          <p:cNvSpPr/>
          <p:nvPr/>
        </p:nvSpPr>
        <p:spPr>
          <a:xfrm>
            <a:off x="7866269" y="476161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/camera1/</a:t>
            </a:r>
            <a:r>
              <a:rPr lang="it-IT" dirty="0" err="1">
                <a:solidFill>
                  <a:schemeClr val="tx1"/>
                </a:solidFill>
              </a:rPr>
              <a:t>image_raw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CB338DD9-90D7-E3CF-B148-680BB2A369DA}"/>
              </a:ext>
            </a:extLst>
          </p:cNvPr>
          <p:cNvSpPr/>
          <p:nvPr/>
        </p:nvSpPr>
        <p:spPr>
          <a:xfrm>
            <a:off x="7866269" y="1044592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/vision/</a:t>
            </a:r>
            <a:r>
              <a:rPr lang="it-IT" dirty="0" err="1">
                <a:solidFill>
                  <a:schemeClr val="tx1"/>
                </a:solidFill>
              </a:rPr>
              <a:t>detection_result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77A51BD-2CF0-3517-B83E-59063E621EA9}"/>
              </a:ext>
            </a:extLst>
          </p:cNvPr>
          <p:cNvSpPr/>
          <p:nvPr/>
        </p:nvSpPr>
        <p:spPr>
          <a:xfrm>
            <a:off x="7866269" y="1613023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/camera2/</a:t>
            </a:r>
            <a:r>
              <a:rPr lang="it-IT" dirty="0" err="1">
                <a:solidFill>
                  <a:schemeClr val="tx1"/>
                </a:solidFill>
              </a:rPr>
              <a:t>image_raw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49" name="Freccia in giù 48">
            <a:extLst>
              <a:ext uri="{FF2B5EF4-FFF2-40B4-BE49-F238E27FC236}">
                <a16:creationId xmlns:a16="http://schemas.microsoft.com/office/drawing/2014/main" id="{5A047AAB-830E-DB6B-CB84-31477CFA0FDF}"/>
              </a:ext>
            </a:extLst>
          </p:cNvPr>
          <p:cNvSpPr/>
          <p:nvPr/>
        </p:nvSpPr>
        <p:spPr>
          <a:xfrm>
            <a:off x="7531014" y="590897"/>
            <a:ext cx="238454" cy="2361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Freccia in giù 49">
            <a:extLst>
              <a:ext uri="{FF2B5EF4-FFF2-40B4-BE49-F238E27FC236}">
                <a16:creationId xmlns:a16="http://schemas.microsoft.com/office/drawing/2014/main" id="{E0AC0EC0-9FEB-0F62-A426-2678C6CE53A4}"/>
              </a:ext>
            </a:extLst>
          </p:cNvPr>
          <p:cNvSpPr/>
          <p:nvPr/>
        </p:nvSpPr>
        <p:spPr>
          <a:xfrm rot="10800000">
            <a:off x="7529761" y="1153272"/>
            <a:ext cx="238454" cy="23616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Freccia in giù 50">
            <a:extLst>
              <a:ext uri="{FF2B5EF4-FFF2-40B4-BE49-F238E27FC236}">
                <a16:creationId xmlns:a16="http://schemas.microsoft.com/office/drawing/2014/main" id="{F51B03D0-6B04-C4FB-343E-CE9A546F0F3D}"/>
              </a:ext>
            </a:extLst>
          </p:cNvPr>
          <p:cNvSpPr/>
          <p:nvPr/>
        </p:nvSpPr>
        <p:spPr>
          <a:xfrm>
            <a:off x="7529761" y="1727760"/>
            <a:ext cx="238454" cy="2361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2" name="Immagine 51" descr="3D Cube - Free shapes icons">
            <a:extLst>
              <a:ext uri="{FF2B5EF4-FFF2-40B4-BE49-F238E27FC236}">
                <a16:creationId xmlns:a16="http://schemas.microsoft.com/office/drawing/2014/main" id="{9824BA96-F72C-A06E-3FB4-8846D868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7041" y="1653850"/>
            <a:ext cx="181885" cy="181885"/>
          </a:xfrm>
          <a:prstGeom prst="rect">
            <a:avLst/>
          </a:prstGeom>
        </p:spPr>
      </p:pic>
      <p:sp>
        <p:nvSpPr>
          <p:cNvPr id="54" name="Rettangolo 53">
            <a:extLst>
              <a:ext uri="{FF2B5EF4-FFF2-40B4-BE49-F238E27FC236}">
                <a16:creationId xmlns:a16="http://schemas.microsoft.com/office/drawing/2014/main" id="{8F5437C6-D4B8-5F0A-4BE5-3A8FE6B96225}"/>
              </a:ext>
            </a:extLst>
          </p:cNvPr>
          <p:cNvSpPr/>
          <p:nvPr/>
        </p:nvSpPr>
        <p:spPr>
          <a:xfrm>
            <a:off x="7866269" y="2175398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/check/</a:t>
            </a:r>
            <a:r>
              <a:rPr lang="it-IT" dirty="0" err="1">
                <a:solidFill>
                  <a:schemeClr val="tx1"/>
                </a:solidFill>
              </a:rPr>
              <a:t>detection_result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55" name="Freccia in giù 54">
            <a:extLst>
              <a:ext uri="{FF2B5EF4-FFF2-40B4-BE49-F238E27FC236}">
                <a16:creationId xmlns:a16="http://schemas.microsoft.com/office/drawing/2014/main" id="{3518056B-1D0F-19B2-969B-DF220A0E867D}"/>
              </a:ext>
            </a:extLst>
          </p:cNvPr>
          <p:cNvSpPr/>
          <p:nvPr/>
        </p:nvSpPr>
        <p:spPr>
          <a:xfrm rot="10800000">
            <a:off x="7529761" y="2290135"/>
            <a:ext cx="238454" cy="23616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6" name="Immagine 55" descr="3D Cube - Free shapes icons">
            <a:extLst>
              <a:ext uri="{FF2B5EF4-FFF2-40B4-BE49-F238E27FC236}">
                <a16:creationId xmlns:a16="http://schemas.microsoft.com/office/drawing/2014/main" id="{7DE8A3A2-418A-65C6-C26D-E1AB2D807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7041" y="526702"/>
            <a:ext cx="181885" cy="181885"/>
          </a:xfrm>
          <a:prstGeom prst="rect">
            <a:avLst/>
          </a:prstGeom>
        </p:spPr>
      </p:pic>
      <p:grpSp>
        <p:nvGrpSpPr>
          <p:cNvPr id="60" name="Gruppo 59">
            <a:extLst>
              <a:ext uri="{FF2B5EF4-FFF2-40B4-BE49-F238E27FC236}">
                <a16:creationId xmlns:a16="http://schemas.microsoft.com/office/drawing/2014/main" id="{59CE7DA5-85EE-3C4F-AF49-09F23EDE37D0}"/>
              </a:ext>
            </a:extLst>
          </p:cNvPr>
          <p:cNvGrpSpPr/>
          <p:nvPr/>
        </p:nvGrpSpPr>
        <p:grpSpPr>
          <a:xfrm>
            <a:off x="640080" y="4582903"/>
            <a:ext cx="10890928" cy="1840960"/>
            <a:chOff x="640080" y="4195337"/>
            <a:chExt cx="10890928" cy="1840960"/>
          </a:xfrm>
        </p:grpSpPr>
        <p:pic>
          <p:nvPicPr>
            <p:cNvPr id="12" name="Elemento grafico 11">
              <a:extLst>
                <a:ext uri="{FF2B5EF4-FFF2-40B4-BE49-F238E27FC236}">
                  <a16:creationId xmlns:a16="http://schemas.microsoft.com/office/drawing/2014/main" id="{5DBF9857-B1C5-6908-F7FD-27D2908F90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4" t="12801" r="1518" b="13019"/>
            <a:stretch>
              <a:fillRect/>
            </a:stretch>
          </p:blipFill>
          <p:spPr>
            <a:xfrm>
              <a:off x="791699" y="4195337"/>
              <a:ext cx="10608602" cy="816574"/>
            </a:xfrm>
            <a:prstGeom prst="rect">
              <a:avLst/>
            </a:prstGeom>
          </p:spPr>
        </p:pic>
        <p:sp>
          <p:nvSpPr>
            <p:cNvPr id="57" name="Segnaposto contenuto 2">
              <a:extLst>
                <a:ext uri="{FF2B5EF4-FFF2-40B4-BE49-F238E27FC236}">
                  <a16:creationId xmlns:a16="http://schemas.microsoft.com/office/drawing/2014/main" id="{B4BEB0DA-87A1-B832-A2FD-F760B6B6DF4E}"/>
                </a:ext>
              </a:extLst>
            </p:cNvPr>
            <p:cNvSpPr txBox="1">
              <a:spLocks/>
            </p:cNvSpPr>
            <p:nvPr/>
          </p:nvSpPr>
          <p:spPr>
            <a:xfrm>
              <a:off x="640080" y="5219723"/>
              <a:ext cx="10890928" cy="81657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87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93776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87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87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51560" indent="-28575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87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98448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87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800" dirty="0"/>
                <a:t>The entire pipeline is applied to a specific </a:t>
              </a:r>
              <a:r>
                <a:rPr lang="en-US" sz="1800" b="1" dirty="0"/>
                <a:t>Region of Interest (ROI)</a:t>
              </a:r>
              <a:r>
                <a:rPr lang="en-US" sz="1800" dirty="0"/>
                <a:t>,</a:t>
              </a:r>
              <a:endParaRPr lang="en-US" sz="1800" b="1" dirty="0"/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800" dirty="0"/>
                <a:t>to ensure that the object is fully visible in the image</a:t>
              </a:r>
            </a:p>
          </p:txBody>
        </p:sp>
      </p:grpSp>
      <p:sp>
        <p:nvSpPr>
          <p:cNvPr id="62" name="Segnaposto contenuto 2">
            <a:extLst>
              <a:ext uri="{FF2B5EF4-FFF2-40B4-BE49-F238E27FC236}">
                <a16:creationId xmlns:a16="http://schemas.microsoft.com/office/drawing/2014/main" id="{1F501475-08D9-1D57-FAAF-4F1CA1347399}"/>
              </a:ext>
            </a:extLst>
          </p:cNvPr>
          <p:cNvSpPr txBox="1">
            <a:spLocks/>
          </p:cNvSpPr>
          <p:nvPr/>
        </p:nvSpPr>
        <p:spPr>
          <a:xfrm>
            <a:off x="640080" y="2754591"/>
            <a:ext cx="10890928" cy="1583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VISION</a:t>
            </a:r>
            <a:r>
              <a:rPr lang="en-US" dirty="0"/>
              <a:t> Node: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detects defective parts and notifies the pusher</a:t>
            </a:r>
          </a:p>
          <a:p>
            <a:r>
              <a:rPr lang="en-US" b="1" dirty="0"/>
              <a:t>CHECK</a:t>
            </a:r>
            <a:r>
              <a:rPr lang="en-US" dirty="0"/>
              <a:t> Node: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detects defective parts that were not pushed away and notifies the controller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Both nodes receive images from simulated Gazebo cameras</a:t>
            </a:r>
          </a:p>
        </p:txBody>
      </p:sp>
    </p:spTree>
    <p:extLst>
      <p:ext uri="{BB962C8B-B14F-4D97-AF65-F5344CB8AC3E}">
        <p14:creationId xmlns:p14="http://schemas.microsoft.com/office/powerpoint/2010/main" val="367348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420C3-112D-6E92-8D07-3A359FAB5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3568583" cy="735758"/>
          </a:xfrm>
        </p:spPr>
        <p:txBody>
          <a:bodyPr>
            <a:normAutofit/>
          </a:bodyPr>
          <a:lstStyle/>
          <a:p>
            <a:r>
              <a:rPr lang="en-US" sz="3800" i="1" noProof="0" dirty="0"/>
              <a:t>PUSHER Node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0ABC19-C5B4-0CC5-AD84-72B897845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54592"/>
            <a:ext cx="10890928" cy="3066455"/>
          </a:xfrm>
        </p:spPr>
        <p:txBody>
          <a:bodyPr>
            <a:normAutofit/>
          </a:bodyPr>
          <a:lstStyle/>
          <a:p>
            <a:r>
              <a:rPr lang="en-US" b="1" dirty="0"/>
              <a:t>TRACKS MOTION</a:t>
            </a:r>
            <a:r>
              <a:rPr lang="en-US" dirty="0"/>
              <a:t> of defective parts (once detected from the vision node)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Actuation time is automatically computed based on the conveyor belt speed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 belt speed changes between detection and actuation, the actuation time changes accordingly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Controls </a:t>
            </a:r>
            <a:r>
              <a:rPr lang="en-US" b="1" dirty="0"/>
              <a:t>EXTENSION and RETRACTION</a:t>
            </a:r>
            <a:r>
              <a:rPr lang="en-US" dirty="0"/>
              <a:t> of a simulated PID-controlled </a:t>
            </a:r>
            <a:r>
              <a:rPr lang="en-US" b="1" dirty="0"/>
              <a:t>SOLENOID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Retraction happens 500ms after the extension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4811B8CE-3574-ECF9-849A-D0CFEBF06C2E}"/>
              </a:ext>
            </a:extLst>
          </p:cNvPr>
          <p:cNvSpPr/>
          <p:nvPr/>
        </p:nvSpPr>
        <p:spPr>
          <a:xfrm>
            <a:off x="7866269" y="476161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/vision/</a:t>
            </a:r>
            <a:r>
              <a:rPr lang="it-IT" dirty="0" err="1">
                <a:solidFill>
                  <a:schemeClr val="tx1"/>
                </a:solidFill>
              </a:rPr>
              <a:t>detection_result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F57CF102-10E6-2403-5482-13EEA05D504E}"/>
              </a:ext>
            </a:extLst>
          </p:cNvPr>
          <p:cNvSpPr/>
          <p:nvPr/>
        </p:nvSpPr>
        <p:spPr>
          <a:xfrm>
            <a:off x="7866269" y="1044592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/config/</a:t>
            </a:r>
            <a:r>
              <a:rPr lang="en-US" dirty="0" err="1">
                <a:solidFill>
                  <a:schemeClr val="tx1"/>
                </a:solidFill>
              </a:rPr>
              <a:t>belt_speed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F8E70AC3-3DFC-18CA-1FEB-F585E13ECBC2}"/>
              </a:ext>
            </a:extLst>
          </p:cNvPr>
          <p:cNvSpPr/>
          <p:nvPr/>
        </p:nvSpPr>
        <p:spPr>
          <a:xfrm>
            <a:off x="7866269" y="1613023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/gazebo/pusher/</a:t>
            </a:r>
            <a:r>
              <a:rPr lang="it-IT" dirty="0" err="1">
                <a:solidFill>
                  <a:schemeClr val="tx1"/>
                </a:solidFill>
              </a:rPr>
              <a:t>cmd_pos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9" name="Freccia in giù 28">
            <a:extLst>
              <a:ext uri="{FF2B5EF4-FFF2-40B4-BE49-F238E27FC236}">
                <a16:creationId xmlns:a16="http://schemas.microsoft.com/office/drawing/2014/main" id="{768FC494-5DC9-0C2E-24D9-3B0743853BC7}"/>
              </a:ext>
            </a:extLst>
          </p:cNvPr>
          <p:cNvSpPr/>
          <p:nvPr/>
        </p:nvSpPr>
        <p:spPr>
          <a:xfrm>
            <a:off x="7531014" y="588387"/>
            <a:ext cx="238454" cy="2361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7F25EDC0-4B85-5EC3-2BDF-016395EFBECD}"/>
              </a:ext>
            </a:extLst>
          </p:cNvPr>
          <p:cNvSpPr/>
          <p:nvPr/>
        </p:nvSpPr>
        <p:spPr>
          <a:xfrm>
            <a:off x="7531014" y="1158073"/>
            <a:ext cx="238454" cy="2361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ccia in giù 30">
            <a:extLst>
              <a:ext uri="{FF2B5EF4-FFF2-40B4-BE49-F238E27FC236}">
                <a16:creationId xmlns:a16="http://schemas.microsoft.com/office/drawing/2014/main" id="{59E39E7D-F17A-E5AB-BC68-43711AED2BF8}"/>
              </a:ext>
            </a:extLst>
          </p:cNvPr>
          <p:cNvSpPr/>
          <p:nvPr/>
        </p:nvSpPr>
        <p:spPr>
          <a:xfrm rot="10800000">
            <a:off x="7529761" y="1727759"/>
            <a:ext cx="238454" cy="23616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2" name="Immagine 31" descr="3D Cube - Free shapes icons">
            <a:extLst>
              <a:ext uri="{FF2B5EF4-FFF2-40B4-BE49-F238E27FC236}">
                <a16:creationId xmlns:a16="http://schemas.microsoft.com/office/drawing/2014/main" id="{62839CD8-4D19-2BE2-2A1E-49D1B6EE1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041" y="1653850"/>
            <a:ext cx="181885" cy="18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58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9A2BA4-5285-0266-1F60-28A577E7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i="1" noProof="0" dirty="0"/>
              <a:t>CONTROLLER Node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8631A0-064D-96FA-ED91-B439E920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54592"/>
            <a:ext cx="10890928" cy="3566160"/>
          </a:xfrm>
        </p:spPr>
        <p:txBody>
          <a:bodyPr/>
          <a:lstStyle/>
          <a:p>
            <a:r>
              <a:rPr lang="en-US" b="1" noProof="0" dirty="0"/>
              <a:t>CONVEYOR BELT</a:t>
            </a:r>
            <a:r>
              <a:rPr lang="en-US" noProof="0" dirty="0"/>
              <a:t> controller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Supports variable belt speed values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Defalut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belt speed is set 1 m/s</a:t>
            </a:r>
          </a:p>
          <a:p>
            <a:pPr lvl="1"/>
            <a:endParaRPr lang="en-US" noProof="0" dirty="0"/>
          </a:p>
          <a:p>
            <a:r>
              <a:rPr lang="en-US" dirty="0"/>
              <a:t>Continuously publishes belt speed to pusher node and commands simulated conveyor belt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Continuous publishing ensures simulation stability and actuation accuracy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1AD1F58-E49C-1592-7B0F-80D82E8656AB}"/>
              </a:ext>
            </a:extLst>
          </p:cNvPr>
          <p:cNvSpPr/>
          <p:nvPr/>
        </p:nvSpPr>
        <p:spPr>
          <a:xfrm>
            <a:off x="7866269" y="476161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/check/</a:t>
            </a:r>
            <a:r>
              <a:rPr lang="it-IT" dirty="0" err="1">
                <a:solidFill>
                  <a:schemeClr val="tx1"/>
                </a:solidFill>
              </a:rPr>
              <a:t>detection_result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57F8BFF-5427-4784-51DA-473005CE9403}"/>
              </a:ext>
            </a:extLst>
          </p:cNvPr>
          <p:cNvSpPr/>
          <p:nvPr/>
        </p:nvSpPr>
        <p:spPr>
          <a:xfrm>
            <a:off x="7866269" y="1044592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/config/</a:t>
            </a:r>
            <a:r>
              <a:rPr lang="en-US" dirty="0" err="1">
                <a:solidFill>
                  <a:schemeClr val="tx1"/>
                </a:solidFill>
              </a:rPr>
              <a:t>belt_speed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3858071-AECA-E4E1-A23C-43B1369B7A38}"/>
              </a:ext>
            </a:extLst>
          </p:cNvPr>
          <p:cNvSpPr/>
          <p:nvPr/>
        </p:nvSpPr>
        <p:spPr>
          <a:xfrm>
            <a:off x="7866269" y="1613023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dirty="0">
                <a:solidFill>
                  <a:schemeClr val="tx1"/>
                </a:solidFill>
              </a:rPr>
              <a:t>/gazebo/conveyor_belt/cmd_vel</a:t>
            </a:r>
          </a:p>
        </p:txBody>
      </p:sp>
      <p:sp>
        <p:nvSpPr>
          <p:cNvPr id="20" name="Freccia in giù 19">
            <a:extLst>
              <a:ext uri="{FF2B5EF4-FFF2-40B4-BE49-F238E27FC236}">
                <a16:creationId xmlns:a16="http://schemas.microsoft.com/office/drawing/2014/main" id="{C5160A7C-1A26-539F-0AD6-AB94F7660716}"/>
              </a:ext>
            </a:extLst>
          </p:cNvPr>
          <p:cNvSpPr/>
          <p:nvPr/>
        </p:nvSpPr>
        <p:spPr>
          <a:xfrm>
            <a:off x="7531014" y="590898"/>
            <a:ext cx="238454" cy="2361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in giù 20">
            <a:extLst>
              <a:ext uri="{FF2B5EF4-FFF2-40B4-BE49-F238E27FC236}">
                <a16:creationId xmlns:a16="http://schemas.microsoft.com/office/drawing/2014/main" id="{C8782AB4-9C9F-C4B6-9ED8-04245D0A0750}"/>
              </a:ext>
            </a:extLst>
          </p:cNvPr>
          <p:cNvSpPr/>
          <p:nvPr/>
        </p:nvSpPr>
        <p:spPr>
          <a:xfrm rot="10800000">
            <a:off x="7530755" y="1159329"/>
            <a:ext cx="238454" cy="23616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in giù 21">
            <a:extLst>
              <a:ext uri="{FF2B5EF4-FFF2-40B4-BE49-F238E27FC236}">
                <a16:creationId xmlns:a16="http://schemas.microsoft.com/office/drawing/2014/main" id="{522C7E66-56F3-5631-D514-C23BAD1F868D}"/>
              </a:ext>
            </a:extLst>
          </p:cNvPr>
          <p:cNvSpPr/>
          <p:nvPr/>
        </p:nvSpPr>
        <p:spPr>
          <a:xfrm rot="10800000">
            <a:off x="7529502" y="1727760"/>
            <a:ext cx="238454" cy="23616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3" name="Immagine 22" descr="3D Cube - Free shapes icons">
            <a:extLst>
              <a:ext uri="{FF2B5EF4-FFF2-40B4-BE49-F238E27FC236}">
                <a16:creationId xmlns:a16="http://schemas.microsoft.com/office/drawing/2014/main" id="{BA0AE35F-2F8C-985C-883C-EAA19CDB7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041" y="1653850"/>
            <a:ext cx="181885" cy="18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35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38C726-DF89-A2FA-99D4-8E98C5CA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i="1" noProof="0" dirty="0"/>
              <a:t>Other ROS NODES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9C9A1D-78FA-8BF4-EBB3-889103084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54592"/>
            <a:ext cx="10890928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b="1" noProof="0" dirty="0"/>
              <a:t>CLEANER</a:t>
            </a:r>
            <a:r>
              <a:rPr lang="en-US" noProof="0" dirty="0"/>
              <a:t> Node: </a:t>
            </a:r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removes fallen object from the simulation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Invokes a Gazebo service to delete objects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Removal occurs 15 seconds after they reach the ground</a:t>
            </a:r>
          </a:p>
          <a:p>
            <a:pPr marL="0" indent="0">
              <a:spcBef>
                <a:spcPts val="0"/>
              </a:spcBef>
              <a:buNone/>
            </a:pP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noProof="0" dirty="0"/>
              <a:t>DUMMY CAMERA</a:t>
            </a:r>
            <a:r>
              <a:rPr lang="en-US" noProof="0" dirty="0"/>
              <a:t> Node: </a:t>
            </a:r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generates fake camera images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Provides a mock interface for a Gazebo camera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Enables system testing without a Gazebo simulation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8C582A8-7F60-F5AC-4E18-C439D3CB3970}"/>
              </a:ext>
            </a:extLst>
          </p:cNvPr>
          <p:cNvSpPr/>
          <p:nvPr/>
        </p:nvSpPr>
        <p:spPr>
          <a:xfrm>
            <a:off x="7866269" y="476161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/gazebo/</a:t>
            </a:r>
            <a:r>
              <a:rPr lang="it-IT" sz="1600" dirty="0" err="1">
                <a:solidFill>
                  <a:schemeClr val="tx1"/>
                </a:solidFill>
              </a:rPr>
              <a:t>spawned_objects</a:t>
            </a:r>
            <a:r>
              <a:rPr lang="it-IT" sz="1600" dirty="0">
                <a:solidFill>
                  <a:schemeClr val="tx1"/>
                </a:solidFill>
              </a:rPr>
              <a:t>/</a:t>
            </a:r>
            <a:r>
              <a:rPr lang="it-IT" sz="1600" dirty="0" err="1">
                <a:solidFill>
                  <a:schemeClr val="tx1"/>
                </a:solidFill>
              </a:rPr>
              <a:t>odometry</a:t>
            </a:r>
            <a:endParaRPr lang="it-IT" sz="1600" dirty="0">
              <a:solidFill>
                <a:schemeClr val="tx1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365BFC9-7584-29CE-BBCD-E82879A3C991}"/>
              </a:ext>
            </a:extLst>
          </p:cNvPr>
          <p:cNvSpPr/>
          <p:nvPr/>
        </p:nvSpPr>
        <p:spPr>
          <a:xfrm>
            <a:off x="7866269" y="1044592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ros_gz_interfaces/srv/DeleteEntity</a:t>
            </a:r>
          </a:p>
        </p:txBody>
      </p:sp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29BFF45F-4A2D-886E-697E-5A010D71A69B}"/>
              </a:ext>
            </a:extLst>
          </p:cNvPr>
          <p:cNvSpPr/>
          <p:nvPr/>
        </p:nvSpPr>
        <p:spPr>
          <a:xfrm>
            <a:off x="7531014" y="592799"/>
            <a:ext cx="238454" cy="2361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Immagine 17" descr="3D Cube - Free shapes icons">
            <a:extLst>
              <a:ext uri="{FF2B5EF4-FFF2-40B4-BE49-F238E27FC236}">
                <a16:creationId xmlns:a16="http://schemas.microsoft.com/office/drawing/2014/main" id="{16441F20-4909-E0D5-DAD6-1E2052063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041" y="527497"/>
            <a:ext cx="181885" cy="181885"/>
          </a:xfrm>
          <a:prstGeom prst="rect">
            <a:avLst/>
          </a:prstGeom>
        </p:spPr>
      </p:pic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86C56541-839F-2E33-0494-0CAECFDDA6C6}"/>
              </a:ext>
            </a:extLst>
          </p:cNvPr>
          <p:cNvCxnSpPr>
            <a:cxnSpLocks/>
          </p:cNvCxnSpPr>
          <p:nvPr/>
        </p:nvCxnSpPr>
        <p:spPr>
          <a:xfrm>
            <a:off x="7456488" y="1604742"/>
            <a:ext cx="432171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tangolo 25">
            <a:extLst>
              <a:ext uri="{FF2B5EF4-FFF2-40B4-BE49-F238E27FC236}">
                <a16:creationId xmlns:a16="http://schemas.microsoft.com/office/drawing/2014/main" id="{CAC7D45B-2C91-9424-5F09-C8B386E974B2}"/>
              </a:ext>
            </a:extLst>
          </p:cNvPr>
          <p:cNvSpPr/>
          <p:nvPr/>
        </p:nvSpPr>
        <p:spPr>
          <a:xfrm>
            <a:off x="7866268" y="1697372"/>
            <a:ext cx="3812827" cy="465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/camera1/</a:t>
            </a:r>
            <a:r>
              <a:rPr lang="it-IT" dirty="0" err="1">
                <a:solidFill>
                  <a:schemeClr val="tx1"/>
                </a:solidFill>
              </a:rPr>
              <a:t>image_raw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F46AC9EB-A043-CC21-19F7-F0C6064CF52F}"/>
              </a:ext>
            </a:extLst>
          </p:cNvPr>
          <p:cNvSpPr/>
          <p:nvPr/>
        </p:nvSpPr>
        <p:spPr>
          <a:xfrm rot="10800000">
            <a:off x="7541874" y="1811369"/>
            <a:ext cx="238454" cy="23616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ccia bidirezionale orizzontale 30">
            <a:extLst>
              <a:ext uri="{FF2B5EF4-FFF2-40B4-BE49-F238E27FC236}">
                <a16:creationId xmlns:a16="http://schemas.microsoft.com/office/drawing/2014/main" id="{4FDAFD84-AEAC-0B4B-E106-2B431DCE39D7}"/>
              </a:ext>
            </a:extLst>
          </p:cNvPr>
          <p:cNvSpPr/>
          <p:nvPr/>
        </p:nvSpPr>
        <p:spPr>
          <a:xfrm>
            <a:off x="7499165" y="1161950"/>
            <a:ext cx="302153" cy="236166"/>
          </a:xfrm>
          <a:prstGeom prst="leftRightArrow">
            <a:avLst>
              <a:gd name="adj1" fmla="val 51344"/>
              <a:gd name="adj2" fmla="val 41262"/>
            </a:avLst>
          </a:prstGeom>
          <a:solidFill>
            <a:srgbClr val="C6E6B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998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8106CE-7E6A-C820-6A22-278CD6E4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3713918" cy="699424"/>
          </a:xfrm>
        </p:spPr>
        <p:txBody>
          <a:bodyPr>
            <a:normAutofit/>
          </a:bodyPr>
          <a:lstStyle/>
          <a:p>
            <a:r>
              <a:rPr lang="en-US" sz="3800" i="1" noProof="0" dirty="0"/>
              <a:t>CONCURRENCY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FF3FD918-0740-5659-897C-F541F92E7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60" t="9887" r="3621" b="5778"/>
          <a:stretch>
            <a:fillRect/>
          </a:stretch>
        </p:blipFill>
        <p:spPr>
          <a:xfrm>
            <a:off x="1947893" y="2416195"/>
            <a:ext cx="8296214" cy="412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676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479</Words>
  <Application>Microsoft Office PowerPoint</Application>
  <PresentationFormat>Widescreen</PresentationFormat>
  <Paragraphs>63</Paragraphs>
  <Slides>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Grandview Display</vt:lpstr>
      <vt:lpstr>Wingdings</vt:lpstr>
      <vt:lpstr>DashVTI</vt:lpstr>
      <vt:lpstr>PartInspect</vt:lpstr>
      <vt:lpstr>The ACTORS</vt:lpstr>
      <vt:lpstr>SYSTEM OVERVIEW</vt:lpstr>
      <vt:lpstr>VISION (&amp; CHECK) Node</vt:lpstr>
      <vt:lpstr>PUSHER Node</vt:lpstr>
      <vt:lpstr>CONTROLLER Node</vt:lpstr>
      <vt:lpstr>Other ROS NODES</vt:lpstr>
      <vt:lpstr>CONCURRENCY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OtherUser</cp:lastModifiedBy>
  <cp:revision>141</cp:revision>
  <dcterms:created xsi:type="dcterms:W3CDTF">2026-07-11T09:13:02Z</dcterms:created>
  <dcterms:modified xsi:type="dcterms:W3CDTF">2026-07-12T14:02:07Z</dcterms:modified>
</cp:coreProperties>
</file>